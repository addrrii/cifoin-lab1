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33"/>
  </p:notesMasterIdLst>
  <p:handoutMasterIdLst>
    <p:handoutMasterId r:id="rId34"/>
  </p:handoutMasterIdLst>
  <p:sldIdLst>
    <p:sldId id="256" r:id="rId5"/>
    <p:sldId id="295" r:id="rId6"/>
    <p:sldId id="290" r:id="rId7"/>
    <p:sldId id="299" r:id="rId8"/>
    <p:sldId id="300" r:id="rId9"/>
    <p:sldId id="301" r:id="rId10"/>
    <p:sldId id="302" r:id="rId11"/>
    <p:sldId id="318" r:id="rId12"/>
    <p:sldId id="303" r:id="rId13"/>
    <p:sldId id="304" r:id="rId14"/>
    <p:sldId id="305" r:id="rId15"/>
    <p:sldId id="306" r:id="rId16"/>
    <p:sldId id="307" r:id="rId17"/>
    <p:sldId id="308" r:id="rId18"/>
    <p:sldId id="309" r:id="rId19"/>
    <p:sldId id="291" r:id="rId20"/>
    <p:sldId id="292" r:id="rId21"/>
    <p:sldId id="297" r:id="rId22"/>
    <p:sldId id="310" r:id="rId23"/>
    <p:sldId id="293" r:id="rId24"/>
    <p:sldId id="315" r:id="rId25"/>
    <p:sldId id="311" r:id="rId26"/>
    <p:sldId id="316" r:id="rId27"/>
    <p:sldId id="312" r:id="rId28"/>
    <p:sldId id="313" r:id="rId29"/>
    <p:sldId id="314" r:id="rId30"/>
    <p:sldId id="317" r:id="rId31"/>
    <p:sldId id="288" r:id="rId32"/>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13/03/2026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13/03/2026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291738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7.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7.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7.sv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7.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err="1">
                <a:latin typeface="Lucida Sans"/>
                <a:cs typeface="Lucida Sans"/>
              </a:rPr>
              <a:t>Lab</a:t>
            </a:r>
            <a:r>
              <a:rPr lang="es-ES" sz="3200" b="1">
                <a:latin typeface="Lucida Sans"/>
                <a:cs typeface="Lucida Sans"/>
              </a:rPr>
              <a:t> Book 1.0. </a:t>
            </a:r>
            <a:r>
              <a:rPr lang="es-ES" sz="3200" b="1" err="1">
                <a:latin typeface="Lucida Sans"/>
                <a:cs typeface="Lucida Sans"/>
              </a:rPr>
              <a:t>Waveguides</a:t>
            </a:r>
            <a:endParaRPr sz="3200">
              <a:latin typeface="Lucida Sans"/>
              <a:cs typeface="Lucida Sans"/>
            </a:endParaRPr>
          </a:p>
        </p:txBody>
      </p:sp>
      <p:sp>
        <p:nvSpPr>
          <p:cNvPr id="4" name="object 4"/>
          <p:cNvSpPr txBox="1"/>
          <p:nvPr/>
        </p:nvSpPr>
        <p:spPr>
          <a:xfrm>
            <a:off x="2749676" y="5610250"/>
            <a:ext cx="8223124" cy="579646"/>
          </a:xfrm>
          <a:prstGeom prst="rect">
            <a:avLst/>
          </a:prstGeom>
        </p:spPr>
        <p:txBody>
          <a:bodyPr vert="horz" wrap="square" lIns="0" tIns="12700" rIns="0" bIns="0" rtlCol="0" anchor="t">
            <a:spAutoFit/>
          </a:bodyPr>
          <a:lstStyle/>
          <a:p>
            <a:pPr marL="12700">
              <a:spcBef>
                <a:spcPts val="100"/>
              </a:spcBef>
            </a:pPr>
            <a:r>
              <a:rPr lang="es-ES" spc="165" dirty="0" err="1">
                <a:latin typeface="Arial"/>
                <a:cs typeface="Arial"/>
              </a:rPr>
              <a:t>Student</a:t>
            </a:r>
            <a:r>
              <a:rPr lang="es-ES" spc="165" dirty="0">
                <a:latin typeface="Arial"/>
                <a:cs typeface="Arial"/>
              </a:rPr>
              <a:t>: </a:t>
            </a:r>
            <a:r>
              <a:rPr lang="es-ES" dirty="0">
                <a:latin typeface="Arial"/>
                <a:cs typeface="Arial"/>
              </a:rPr>
              <a:t>Adrián Navarrete Martí, Olaya Villacorta </a:t>
            </a:r>
            <a:r>
              <a:rPr lang="es-ES" dirty="0" err="1">
                <a:latin typeface="Arial"/>
                <a:cs typeface="Arial"/>
              </a:rPr>
              <a:t>Guillamon</a:t>
            </a:r>
            <a:endParaRPr lang="es-ES" dirty="0">
              <a:latin typeface="Arial"/>
              <a:cs typeface="Arial"/>
            </a:endParaRPr>
          </a:p>
          <a:p>
            <a:pPr marL="12700">
              <a:spcBef>
                <a:spcPts val="100"/>
              </a:spcBef>
            </a:pPr>
            <a:r>
              <a:rPr lang="es-ES" dirty="0">
                <a:ea typeface="+mn-lt"/>
                <a:cs typeface="+mn-lt"/>
              </a:rPr>
              <a:t>https://github.com/Addrrii/cifoin-lab1</a:t>
            </a: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err="1">
                <a:latin typeface="+mj-lt"/>
                <a:cs typeface="Lucida Sans"/>
              </a:rPr>
              <a:t>Instructions</a:t>
            </a:r>
            <a:br>
              <a:rPr lang="es-ES" sz="2400" spc="-5">
                <a:latin typeface="+mj-lt"/>
                <a:cs typeface="Lucida Sans"/>
              </a:rPr>
            </a:br>
            <a:r>
              <a:rPr lang="es-ES" b="0" spc="-5">
                <a:latin typeface="+mj-lt"/>
                <a:cs typeface="Lucida Sans"/>
              </a:rPr>
              <a:t>General</a:t>
            </a:r>
            <a:endParaRPr sz="2400" b="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a:solidFill>
                  <a:sysClr val="windowText" lastClr="000000"/>
                </a:solidFill>
                <a:sym typeface="Wingdings" pitchFamily="2" charset="2"/>
              </a:rPr>
              <a:t>Fork the repo: https://github.com/cccanvas-upv/cifoin-lab1.git</a:t>
            </a:r>
          </a:p>
          <a:p>
            <a:pPr marL="800100" lvl="1" indent="-342900" algn="just">
              <a:buFont typeface="Arial" panose="020B0604020202020204" pitchFamily="34" charset="0"/>
              <a:buChar char="•"/>
            </a:pPr>
            <a:r>
              <a:rPr lang="en-US" kern="0">
                <a:solidFill>
                  <a:sysClr val="windowText" lastClr="000000"/>
                </a:solidFill>
                <a:sym typeface="Wingdings" pitchFamily="2" charset="2"/>
              </a:rPr>
              <a:t>Clone the repo using </a:t>
            </a:r>
            <a:r>
              <a:rPr lang="en-US" kern="0" err="1">
                <a:solidFill>
                  <a:sysClr val="windowText" lastClr="000000"/>
                </a:solidFill>
                <a:sym typeface="Wingdings" pitchFamily="2" charset="2"/>
              </a:rPr>
              <a:t>VSCode</a:t>
            </a:r>
            <a:endParaRPr lang="en-US" kern="0">
              <a:solidFill>
                <a:sysClr val="windowText" lastClr="000000"/>
              </a:solidFill>
              <a:sym typeface="Wingdings" pitchFamily="2" charset="2"/>
            </a:endParaRPr>
          </a:p>
          <a:p>
            <a:pPr marL="342900" indent="-342900" algn="just">
              <a:buFont typeface="Arial" panose="020B0604020202020204" pitchFamily="34" charset="0"/>
              <a:buChar char="•"/>
            </a:pPr>
            <a:r>
              <a:rPr lang="en-US" kern="0">
                <a:solidFill>
                  <a:sysClr val="windowText" lastClr="000000"/>
                </a:solidFill>
              </a:rPr>
              <a:t>Run the </a:t>
            </a:r>
            <a:r>
              <a:rPr lang="en-US" kern="0" err="1">
                <a:solidFill>
                  <a:sysClr val="windowText" lastClr="000000"/>
                </a:solidFill>
              </a:rPr>
              <a:t>Jupyter</a:t>
            </a:r>
            <a:r>
              <a:rPr lang="en-US" kern="0">
                <a:solidFill>
                  <a:sysClr val="windowText" lastClr="000000"/>
                </a:solidFill>
              </a:rPr>
              <a:t> Notebook: </a:t>
            </a:r>
          </a:p>
          <a:p>
            <a:pPr marL="800100" lvl="1" indent="-342900" algn="just">
              <a:buFont typeface="Arial" panose="020B0604020202020204" pitchFamily="34" charset="0"/>
              <a:buChar char="•"/>
            </a:pPr>
            <a:r>
              <a:rPr lang="en-US" kern="0" err="1">
                <a:solidFill>
                  <a:sysClr val="windowText" lastClr="000000"/>
                </a:solidFill>
              </a:rPr>
              <a:t>WAVEGUIDES_Student.ipynb</a:t>
            </a:r>
            <a:r>
              <a:rPr lang="en-US" kern="0">
                <a:solidFill>
                  <a:sysClr val="windowText" lastClr="000000"/>
                </a:solidFill>
              </a:rPr>
              <a:t> </a:t>
            </a:r>
          </a:p>
          <a:p>
            <a:pPr algn="just"/>
            <a:endParaRPr lang="en-US" sz="2000" b="1" i="1" u="sng"/>
          </a:p>
          <a:p>
            <a:pPr algn="just"/>
            <a:endParaRPr lang="en-US" sz="2000" kern="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a:latin typeface="Calibri"/>
                <a:cs typeface="Calibri"/>
              </a:rPr>
              <a:t>h</a:t>
            </a:r>
          </a:p>
          <a:p>
            <a:pPr marR="5080" algn="ctr">
              <a:lnSpc>
                <a:spcPct val="100000"/>
              </a:lnSpc>
              <a:spcBef>
                <a:spcPts val="5"/>
              </a:spcBef>
            </a:pPr>
            <a:r>
              <a:rPr sz="1400" spc="-10">
                <a:latin typeface="Calibri"/>
                <a:cs typeface="Calibri"/>
              </a:rPr>
              <a:t>(h</a:t>
            </a:r>
            <a:r>
              <a:rPr sz="1400">
                <a:latin typeface="Calibri"/>
                <a:cs typeface="Calibri"/>
              </a:rPr>
              <a:t>eig</a:t>
            </a:r>
            <a:r>
              <a:rPr sz="1400" spc="-25">
                <a:latin typeface="Calibri"/>
                <a:cs typeface="Calibri"/>
              </a:rPr>
              <a:t>h</a:t>
            </a:r>
            <a:r>
              <a:rPr sz="1400" spc="-5">
                <a:latin typeface="Calibri"/>
                <a:cs typeface="Calibri"/>
              </a:rPr>
              <a:t>t</a:t>
            </a:r>
            <a:r>
              <a:rPr sz="140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a:latin typeface="Times New Roman"/>
              <a:cs typeface="Times New Roman"/>
            </a:endParaRPr>
          </a:p>
          <a:p>
            <a:pPr marL="18415">
              <a:lnSpc>
                <a:spcPct val="100000"/>
              </a:lnSpc>
            </a:pPr>
            <a:r>
              <a:rPr lang="es-ES" sz="1600" b="1" spc="-10" err="1">
                <a:latin typeface="Calibri"/>
                <a:cs typeface="Calibri"/>
              </a:rPr>
              <a:t>Slab</a:t>
            </a:r>
            <a:endParaRPr sz="160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err="1">
                <a:latin typeface="Calibri"/>
                <a:cs typeface="Calibri"/>
              </a:rPr>
              <a:t>h_slab</a:t>
            </a:r>
            <a:endParaRPr sz="140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err="1">
                <a:latin typeface="Calibri"/>
                <a:cs typeface="Calibri"/>
              </a:rPr>
              <a:t>h_core</a:t>
            </a:r>
            <a:r>
              <a:rPr lang="es-ES" sz="1400" spc="-10">
                <a:latin typeface="Calibri"/>
                <a:cs typeface="Calibri"/>
              </a:rPr>
              <a:t> </a:t>
            </a:r>
            <a:endParaRPr sz="140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a:t>shallow</a:t>
            </a:r>
            <a:r>
              <a:rPr lang="en-US"/>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n-US" b="1"/>
              <a:t>deep</a:t>
            </a:r>
            <a:r>
              <a:rPr lang="en-US"/>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Effective index of a waveguide</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1.0 WAVEGUIDES</a:t>
            </a:r>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a:t>INSTRUCTOR:</a:t>
            </a:r>
          </a:p>
          <a:p>
            <a:pPr marL="342900" indent="-342900" algn="just">
              <a:buFont typeface="Arial" panose="020B0604020202020204" pitchFamily="34" charset="0"/>
              <a:buChar char="•"/>
            </a:pPr>
            <a:r>
              <a:rPr lang="en-US" sz="2000"/>
              <a:t>Present Python and </a:t>
            </a:r>
            <a:r>
              <a:rPr lang="en-US" sz="2000" err="1"/>
              <a:t>GDSFactory</a:t>
            </a:r>
            <a:r>
              <a:rPr lang="en-US" sz="2000"/>
              <a:t>: materials, output, results.</a:t>
            </a:r>
          </a:p>
          <a:p>
            <a:pPr marL="342900" indent="-342900" algn="just">
              <a:buFont typeface="Arial" panose="020B0604020202020204" pitchFamily="34" charset="0"/>
              <a:buChar char="•"/>
            </a:pPr>
            <a:r>
              <a:rPr lang="en-US" sz="2000"/>
              <a:t>Explain how to run a simulation for a particular cross-section. </a:t>
            </a:r>
          </a:p>
          <a:p>
            <a:pPr marL="342900" indent="-342900" algn="just">
              <a:buFont typeface="Arial" panose="020B0604020202020204" pitchFamily="34" charset="0"/>
              <a:buChar char="•"/>
            </a:pPr>
            <a:r>
              <a:rPr lang="en-US" sz="2000"/>
              <a:t>Showcase how to change between shallow and deep waveguide.</a:t>
            </a:r>
          </a:p>
          <a:p>
            <a:pPr marL="342900" indent="-342900" algn="just">
              <a:buFont typeface="Arial" panose="020B0604020202020204" pitchFamily="34" charset="0"/>
              <a:buChar char="•"/>
            </a:pPr>
            <a:r>
              <a:rPr lang="en-US" sz="2000"/>
              <a:t>Describe how to change the wavelength and width for the waveguide analysis.</a:t>
            </a:r>
          </a:p>
          <a:p>
            <a:pPr marL="342900" indent="-342900" algn="just">
              <a:buFont typeface="Arial" panose="020B0604020202020204" pitchFamily="34" charset="0"/>
              <a:buChar char="•"/>
            </a:pPr>
            <a:r>
              <a:rPr lang="en-US" sz="2000"/>
              <a:t>Describe the outputs.</a:t>
            </a:r>
          </a:p>
          <a:p>
            <a:pPr marL="0" indent="0" algn="just">
              <a:buNone/>
            </a:pPr>
            <a:r>
              <a:rPr lang="en-US" sz="2000" b="1"/>
              <a:t>ALL EXAMPLE #1: </a:t>
            </a:r>
            <a:r>
              <a:rPr lang="en-US" sz="2000"/>
              <a:t>waveguide width 1.2 µm, deep </a:t>
            </a:r>
            <a:r>
              <a:rPr lang="en-US" sz="2000" err="1"/>
              <a:t>wvg</a:t>
            </a:r>
            <a:r>
              <a:rPr lang="en-US" sz="2000"/>
              <a:t>, wavelength start and end same 1.55 µm </a:t>
            </a:r>
            <a:r>
              <a:rPr lang="en-US" sz="2000">
                <a:sym typeface="Wingdings" pitchFamily="2" charset="2"/>
              </a:rPr>
              <a:t> all ”Run”</a:t>
            </a:r>
            <a:endParaRPr lang="en-US" sz="2000"/>
          </a:p>
          <a:p>
            <a:pPr marL="0" indent="0" algn="just">
              <a:buNone/>
            </a:pPr>
            <a:r>
              <a:rPr lang="en-US" sz="2000" b="1"/>
              <a:t>ALL: </a:t>
            </a:r>
            <a:r>
              <a:rPr lang="en-US" sz="2000"/>
              <a:t>Follow</a:t>
            </a:r>
            <a:r>
              <a:rPr lang="en-US" sz="2000" b="1"/>
              <a:t> </a:t>
            </a:r>
            <a:r>
              <a:rPr lang="en-US" sz="2000"/>
              <a:t>instructor, that will show how to 1) plot mode, 2) explore the results (neff …)</a:t>
            </a:r>
          </a:p>
          <a:p>
            <a:pPr algn="just"/>
            <a:endParaRPr lang="en-US" sz="2000" b="1" i="1"/>
          </a:p>
          <a:p>
            <a:pPr algn="just"/>
            <a:endParaRPr lang="en-US" sz="2000" kern="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Document all your results (neff, plot fields of different modes, comparison between different polarizations…)</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Marcador de contenido 7" descr="Gráfico, Gráfico de líneas&#10;&#10;El contenido generado por IA puede ser incorrecto.">
            <a:extLst>
              <a:ext uri="{FF2B5EF4-FFF2-40B4-BE49-F238E27FC236}">
                <a16:creationId xmlns:a16="http://schemas.microsoft.com/office/drawing/2014/main" id="{5878EA18-959F-883A-D722-7E5587F39541}"/>
              </a:ext>
            </a:extLst>
          </p:cNvPr>
          <p:cNvPicPr>
            <a:picLocks noGrp="1" noChangeAspect="1"/>
          </p:cNvPicPr>
          <p:nvPr>
            <p:ph sz="half" idx="2"/>
          </p:nvPr>
        </p:nvPicPr>
        <p:blipFill>
          <a:blip r:embed="rId2"/>
          <a:stretch>
            <a:fillRect/>
          </a:stretch>
        </p:blipFill>
        <p:spPr>
          <a:xfrm>
            <a:off x="609600" y="1807818"/>
            <a:ext cx="5303838" cy="4066276"/>
          </a:xfrm>
          <a:prstGeom prst="rect">
            <a:avLst/>
          </a:prstGeom>
        </p:spPr>
      </p:pic>
      <p:sp>
        <p:nvSpPr>
          <p:cNvPr id="4" name="Marcador de contenido 3">
            <a:extLst>
              <a:ext uri="{FF2B5EF4-FFF2-40B4-BE49-F238E27FC236}">
                <a16:creationId xmlns:a16="http://schemas.microsoft.com/office/drawing/2014/main" id="{1820A325-0E88-EB23-4068-932A2E8DDD1C}"/>
              </a:ext>
            </a:extLst>
          </p:cNvPr>
          <p:cNvSpPr>
            <a:spLocks noGrp="1"/>
          </p:cNvSpPr>
          <p:nvPr>
            <p:ph sz="half" idx="3"/>
          </p:nvPr>
        </p:nvSpPr>
        <p:spPr>
          <a:xfrm>
            <a:off x="794880" y="1529340"/>
            <a:ext cx="5303520" cy="276999"/>
          </a:xfrm>
        </p:spPr>
        <p:txBody>
          <a:bodyPr/>
          <a:lstStyle/>
          <a:p>
            <a:r>
              <a:rPr lang="es-ES" b="1"/>
              <a:t>1.1.1. </a:t>
            </a:r>
            <a:r>
              <a:rPr lang="es-ES" b="1" err="1"/>
              <a:t>Crystalline</a:t>
            </a:r>
            <a:r>
              <a:rPr lang="es-ES" b="1"/>
              <a:t> Silicon</a:t>
            </a:r>
          </a:p>
        </p:txBody>
      </p:sp>
      <p:sp>
        <p:nvSpPr>
          <p:cNvPr id="5" name="Marcador de pie de página 4">
            <a:extLst>
              <a:ext uri="{FF2B5EF4-FFF2-40B4-BE49-F238E27FC236}">
                <a16:creationId xmlns:a16="http://schemas.microsoft.com/office/drawing/2014/main" id="{5F20A2B7-A890-8C17-D2AA-30CC9ABBD345}"/>
              </a:ext>
            </a:extLst>
          </p:cNvPr>
          <p:cNvSpPr>
            <a:spLocks noGrp="1"/>
          </p:cNvSpPr>
          <p:nvPr>
            <p:ph type="ftr" sz="quarter" idx="5"/>
          </p:nvPr>
        </p:nvSpPr>
        <p:spPr/>
        <p:txBody>
          <a:bodyPr/>
          <a:lstStyle/>
          <a:p>
            <a:pPr marL="12700">
              <a:lnSpc>
                <a:spcPct val="100000"/>
              </a:lnSpc>
              <a:spcBef>
                <a:spcPts val="15"/>
              </a:spcBef>
            </a:pPr>
            <a:r>
              <a:rPr lang="es-ES" spc="-5"/>
              <a:t>LAB 1.0 WAVEGUIDES</a:t>
            </a:r>
          </a:p>
        </p:txBody>
      </p:sp>
      <p:sp>
        <p:nvSpPr>
          <p:cNvPr id="6" name="Marcador de número de diapositiva 5">
            <a:extLst>
              <a:ext uri="{FF2B5EF4-FFF2-40B4-BE49-F238E27FC236}">
                <a16:creationId xmlns:a16="http://schemas.microsoft.com/office/drawing/2014/main" id="{E2E7E87E-CC66-7771-F48E-2EB7325310BF}"/>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2" name="object 16">
            <a:extLst>
              <a:ext uri="{FF2B5EF4-FFF2-40B4-BE49-F238E27FC236}">
                <a16:creationId xmlns:a16="http://schemas.microsoft.com/office/drawing/2014/main" id="{D069A494-7AAF-9722-8B19-A7D517C197E4}"/>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b="1" dirty="0"/>
              <a:t>Learning outcome #1 – Effective index of a waveguide</a:t>
            </a:r>
            <a:br>
              <a:rPr lang="es-ES" sz="2500" spc="-5" dirty="0">
                <a:latin typeface="+mj-lt"/>
                <a:cs typeface="Lucida Sans"/>
              </a:rPr>
            </a:br>
            <a:endParaRPr sz="2500" b="0" dirty="0">
              <a:latin typeface="+mj-lt"/>
              <a:cs typeface="Lucida Sans"/>
            </a:endParaRPr>
          </a:p>
        </p:txBody>
      </p:sp>
      <p:sp>
        <p:nvSpPr>
          <p:cNvPr id="3" name="CuadroTexto 2">
            <a:extLst>
              <a:ext uri="{FF2B5EF4-FFF2-40B4-BE49-F238E27FC236}">
                <a16:creationId xmlns:a16="http://schemas.microsoft.com/office/drawing/2014/main" id="{14CCD992-0CB3-1A05-087C-4D1B274ED19C}"/>
              </a:ext>
            </a:extLst>
          </p:cNvPr>
          <p:cNvSpPr txBox="1"/>
          <p:nvPr/>
        </p:nvSpPr>
        <p:spPr>
          <a:xfrm>
            <a:off x="6301422" y="1067674"/>
            <a:ext cx="4355690" cy="1200329"/>
          </a:xfrm>
          <a:prstGeom prst="rect">
            <a:avLst/>
          </a:prstGeom>
          <a:noFill/>
        </p:spPr>
        <p:txBody>
          <a:bodyPr wrap="square" rtlCol="0">
            <a:spAutoFit/>
          </a:bodyPr>
          <a:lstStyle/>
          <a:p>
            <a:pPr algn="just"/>
            <a:r>
              <a:rPr lang="es-ES" dirty="0"/>
              <a:t>Material que se utilizará como núcleo en los apartados extra. Se establece un </a:t>
            </a:r>
            <a:r>
              <a:rPr lang="es-ES" dirty="0" err="1"/>
              <a:t>neff</a:t>
            </a:r>
            <a:r>
              <a:rPr lang="es-ES" dirty="0"/>
              <a:t> de 3.47 para todo el rango de longitudes de onda.</a:t>
            </a:r>
          </a:p>
        </p:txBody>
      </p:sp>
      <p:sp>
        <p:nvSpPr>
          <p:cNvPr id="7" name="CuadroTexto 6">
            <a:extLst>
              <a:ext uri="{FF2B5EF4-FFF2-40B4-BE49-F238E27FC236}">
                <a16:creationId xmlns:a16="http://schemas.microsoft.com/office/drawing/2014/main" id="{B35853B8-D44B-27DE-A1B3-E3ED20F363C7}"/>
              </a:ext>
            </a:extLst>
          </p:cNvPr>
          <p:cNvSpPr txBox="1"/>
          <p:nvPr/>
        </p:nvSpPr>
        <p:spPr>
          <a:xfrm>
            <a:off x="6479458" y="2831690"/>
            <a:ext cx="3746090" cy="2308324"/>
          </a:xfrm>
          <a:prstGeom prst="rect">
            <a:avLst/>
          </a:prstGeom>
          <a:noFill/>
        </p:spPr>
        <p:txBody>
          <a:bodyPr wrap="square" rtlCol="0">
            <a:spAutoFit/>
          </a:bodyPr>
          <a:lstStyle/>
          <a:p>
            <a:pPr algn="just"/>
            <a:r>
              <a:rPr lang="es-ES" dirty="0"/>
              <a:t>El índice efectivo disminuye al aumentar la longitud de onda porque tanto el índice del material como el confinamiento se reducen con la longitud de onda. A longitudes de onda mayores, el modo se extiende más hacia el recubrimiento y su </a:t>
            </a:r>
            <a:r>
              <a:rPr lang="es-ES" dirty="0" err="1"/>
              <a:t>neff</a:t>
            </a:r>
            <a:r>
              <a:rPr lang="es-ES" dirty="0"/>
              <a:t> se aproxima al del </a:t>
            </a:r>
            <a:r>
              <a:rPr lang="es-ES" dirty="0" err="1"/>
              <a:t>cladding</a:t>
            </a:r>
            <a:r>
              <a:rPr lang="es-ES" dirty="0"/>
              <a:t>.</a:t>
            </a:r>
          </a:p>
        </p:txBody>
      </p:sp>
    </p:spTree>
    <p:extLst>
      <p:ext uri="{BB962C8B-B14F-4D97-AF65-F5344CB8AC3E}">
        <p14:creationId xmlns:p14="http://schemas.microsoft.com/office/powerpoint/2010/main" val="1752016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Marcador de contenido 7" descr="Gráfico, Gráfico de líneas&#10;&#10;El contenido generado por IA puede ser incorrecto.">
            <a:extLst>
              <a:ext uri="{FF2B5EF4-FFF2-40B4-BE49-F238E27FC236}">
                <a16:creationId xmlns:a16="http://schemas.microsoft.com/office/drawing/2014/main" id="{F824A5C5-CDA6-0941-5CB5-597090EBBA22}"/>
              </a:ext>
            </a:extLst>
          </p:cNvPr>
          <p:cNvPicPr>
            <a:picLocks noGrp="1" noChangeAspect="1"/>
          </p:cNvPicPr>
          <p:nvPr>
            <p:ph sz="half" idx="2"/>
          </p:nvPr>
        </p:nvPicPr>
        <p:blipFill>
          <a:blip r:embed="rId2"/>
          <a:stretch>
            <a:fillRect/>
          </a:stretch>
        </p:blipFill>
        <p:spPr>
          <a:xfrm>
            <a:off x="609600" y="1827395"/>
            <a:ext cx="5303838" cy="4027123"/>
          </a:xfrm>
          <a:prstGeom prst="rect">
            <a:avLst/>
          </a:prstGeom>
        </p:spPr>
      </p:pic>
      <p:sp>
        <p:nvSpPr>
          <p:cNvPr id="4" name="Marcador de contenido 3">
            <a:extLst>
              <a:ext uri="{FF2B5EF4-FFF2-40B4-BE49-F238E27FC236}">
                <a16:creationId xmlns:a16="http://schemas.microsoft.com/office/drawing/2014/main" id="{1E7D3E45-8AFC-FBF0-1FF2-782DF28E7881}"/>
              </a:ext>
            </a:extLst>
          </p:cNvPr>
          <p:cNvSpPr>
            <a:spLocks noGrp="1"/>
          </p:cNvSpPr>
          <p:nvPr>
            <p:ph sz="half" idx="3"/>
          </p:nvPr>
        </p:nvSpPr>
        <p:spPr>
          <a:xfrm>
            <a:off x="794880" y="1553340"/>
            <a:ext cx="5303520" cy="276999"/>
          </a:xfrm>
        </p:spPr>
        <p:txBody>
          <a:bodyPr/>
          <a:lstStyle/>
          <a:p>
            <a:r>
              <a:rPr lang="es-ES" b="1"/>
              <a:t>1.1.2. Silicon </a:t>
            </a:r>
            <a:r>
              <a:rPr lang="es-ES" b="1" err="1"/>
              <a:t>Nitride</a:t>
            </a:r>
            <a:endParaRPr lang="es-ES" b="1"/>
          </a:p>
        </p:txBody>
      </p:sp>
      <p:sp>
        <p:nvSpPr>
          <p:cNvPr id="5" name="Marcador de pie de página 4">
            <a:extLst>
              <a:ext uri="{FF2B5EF4-FFF2-40B4-BE49-F238E27FC236}">
                <a16:creationId xmlns:a16="http://schemas.microsoft.com/office/drawing/2014/main" id="{3ABBC687-80AD-98B7-4F44-2ACF2CE7EE0F}"/>
              </a:ext>
            </a:extLst>
          </p:cNvPr>
          <p:cNvSpPr>
            <a:spLocks noGrp="1"/>
          </p:cNvSpPr>
          <p:nvPr>
            <p:ph type="ftr" sz="quarter" idx="5"/>
          </p:nvPr>
        </p:nvSpPr>
        <p:spPr/>
        <p:txBody>
          <a:bodyPr/>
          <a:lstStyle/>
          <a:p>
            <a:pPr marL="12700">
              <a:lnSpc>
                <a:spcPct val="100000"/>
              </a:lnSpc>
              <a:spcBef>
                <a:spcPts val="15"/>
              </a:spcBef>
            </a:pPr>
            <a:r>
              <a:rPr lang="es-ES" spc="-5"/>
              <a:t>LAB 1.0 WAVEGUIDES</a:t>
            </a:r>
          </a:p>
        </p:txBody>
      </p:sp>
      <p:sp>
        <p:nvSpPr>
          <p:cNvPr id="6" name="Marcador de número de diapositiva 5">
            <a:extLst>
              <a:ext uri="{FF2B5EF4-FFF2-40B4-BE49-F238E27FC236}">
                <a16:creationId xmlns:a16="http://schemas.microsoft.com/office/drawing/2014/main" id="{A2A34110-A230-1377-0EAE-B094013D1DE3}"/>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2" name="object 16">
            <a:extLst>
              <a:ext uri="{FF2B5EF4-FFF2-40B4-BE49-F238E27FC236}">
                <a16:creationId xmlns:a16="http://schemas.microsoft.com/office/drawing/2014/main" id="{B2B0064E-57F1-CAB7-4735-82400DFA3419}"/>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b="1" dirty="0"/>
              <a:t>Learning outcome #1 – Effective index of a waveguide</a:t>
            </a:r>
            <a:br>
              <a:rPr lang="es-ES" sz="2500" spc="-5" dirty="0">
                <a:latin typeface="+mj-lt"/>
                <a:cs typeface="Lucida Sans"/>
              </a:rPr>
            </a:br>
            <a:endParaRPr sz="2500" b="0" dirty="0">
              <a:latin typeface="+mj-lt"/>
              <a:cs typeface="Lucida Sans"/>
            </a:endParaRPr>
          </a:p>
        </p:txBody>
      </p:sp>
      <p:sp>
        <p:nvSpPr>
          <p:cNvPr id="3" name="CuadroTexto 2">
            <a:extLst>
              <a:ext uri="{FF2B5EF4-FFF2-40B4-BE49-F238E27FC236}">
                <a16:creationId xmlns:a16="http://schemas.microsoft.com/office/drawing/2014/main" id="{D1CD0588-A8AC-2B39-FF2C-EBCB30E7353E}"/>
              </a:ext>
            </a:extLst>
          </p:cNvPr>
          <p:cNvSpPr txBox="1"/>
          <p:nvPr/>
        </p:nvSpPr>
        <p:spPr>
          <a:xfrm>
            <a:off x="6906895" y="2300748"/>
            <a:ext cx="3131840" cy="1200329"/>
          </a:xfrm>
          <a:prstGeom prst="rect">
            <a:avLst/>
          </a:prstGeom>
          <a:noFill/>
        </p:spPr>
        <p:txBody>
          <a:bodyPr wrap="square" rtlCol="0">
            <a:spAutoFit/>
          </a:bodyPr>
          <a:lstStyle/>
          <a:p>
            <a:pPr algn="just"/>
            <a:r>
              <a:rPr lang="es-ES" dirty="0"/>
              <a:t>Material que se utilizará como núcleo. Se establece un </a:t>
            </a:r>
            <a:r>
              <a:rPr lang="es-ES" dirty="0" err="1"/>
              <a:t>neff</a:t>
            </a:r>
            <a:r>
              <a:rPr lang="es-ES" dirty="0"/>
              <a:t> de 2 (aproximado) para todo el rango de longitudes de onda.</a:t>
            </a:r>
          </a:p>
        </p:txBody>
      </p:sp>
    </p:spTree>
    <p:extLst>
      <p:ext uri="{BB962C8B-B14F-4D97-AF65-F5344CB8AC3E}">
        <p14:creationId xmlns:p14="http://schemas.microsoft.com/office/powerpoint/2010/main" val="1047843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Marcador de contenido 7" descr="Gráfico, Gráfico de líneas&#10;&#10;El contenido generado por IA puede ser incorrecto.">
            <a:extLst>
              <a:ext uri="{FF2B5EF4-FFF2-40B4-BE49-F238E27FC236}">
                <a16:creationId xmlns:a16="http://schemas.microsoft.com/office/drawing/2014/main" id="{10EA7040-F487-C6E2-B2B3-5302F8E28A49}"/>
              </a:ext>
            </a:extLst>
          </p:cNvPr>
          <p:cNvPicPr>
            <a:picLocks noGrp="1" noChangeAspect="1"/>
          </p:cNvPicPr>
          <p:nvPr>
            <p:ph sz="half" idx="2"/>
          </p:nvPr>
        </p:nvPicPr>
        <p:blipFill>
          <a:blip r:embed="rId2"/>
          <a:stretch>
            <a:fillRect/>
          </a:stretch>
        </p:blipFill>
        <p:spPr>
          <a:xfrm>
            <a:off x="609600" y="1834001"/>
            <a:ext cx="5303838" cy="4013910"/>
          </a:xfrm>
          <a:prstGeom prst="rect">
            <a:avLst/>
          </a:prstGeom>
        </p:spPr>
      </p:pic>
      <p:sp>
        <p:nvSpPr>
          <p:cNvPr id="4" name="Marcador de contenido 3">
            <a:extLst>
              <a:ext uri="{FF2B5EF4-FFF2-40B4-BE49-F238E27FC236}">
                <a16:creationId xmlns:a16="http://schemas.microsoft.com/office/drawing/2014/main" id="{4FCB9971-FC15-635B-0E20-6E6A89F83DBC}"/>
              </a:ext>
            </a:extLst>
          </p:cNvPr>
          <p:cNvSpPr>
            <a:spLocks noGrp="1"/>
          </p:cNvSpPr>
          <p:nvPr>
            <p:ph sz="half" idx="3"/>
          </p:nvPr>
        </p:nvSpPr>
        <p:spPr>
          <a:xfrm>
            <a:off x="794880" y="1559340"/>
            <a:ext cx="5303520" cy="276999"/>
          </a:xfrm>
        </p:spPr>
        <p:txBody>
          <a:bodyPr/>
          <a:lstStyle/>
          <a:p>
            <a:r>
              <a:rPr lang="es-ES" b="1"/>
              <a:t>1.1.3. Silicon </a:t>
            </a:r>
            <a:r>
              <a:rPr lang="es-ES" b="1" err="1"/>
              <a:t>Dioxide</a:t>
            </a:r>
            <a:endParaRPr lang="es-ES" b="1"/>
          </a:p>
        </p:txBody>
      </p:sp>
      <p:sp>
        <p:nvSpPr>
          <p:cNvPr id="5" name="Marcador de pie de página 4">
            <a:extLst>
              <a:ext uri="{FF2B5EF4-FFF2-40B4-BE49-F238E27FC236}">
                <a16:creationId xmlns:a16="http://schemas.microsoft.com/office/drawing/2014/main" id="{B0584C8A-FC99-F661-6116-86E60BC930C3}"/>
              </a:ext>
            </a:extLst>
          </p:cNvPr>
          <p:cNvSpPr>
            <a:spLocks noGrp="1"/>
          </p:cNvSpPr>
          <p:nvPr>
            <p:ph type="ftr" sz="quarter" idx="5"/>
          </p:nvPr>
        </p:nvSpPr>
        <p:spPr/>
        <p:txBody>
          <a:bodyPr/>
          <a:lstStyle/>
          <a:p>
            <a:pPr marL="12700">
              <a:lnSpc>
                <a:spcPct val="100000"/>
              </a:lnSpc>
              <a:spcBef>
                <a:spcPts val="15"/>
              </a:spcBef>
            </a:pPr>
            <a:r>
              <a:rPr lang="es-ES" spc="-5"/>
              <a:t>LAB 1.0 WAVEGUIDES</a:t>
            </a:r>
          </a:p>
        </p:txBody>
      </p:sp>
      <p:sp>
        <p:nvSpPr>
          <p:cNvPr id="6" name="Marcador de número de diapositiva 5">
            <a:extLst>
              <a:ext uri="{FF2B5EF4-FFF2-40B4-BE49-F238E27FC236}">
                <a16:creationId xmlns:a16="http://schemas.microsoft.com/office/drawing/2014/main" id="{F0C99374-52A0-811A-5619-969DDD6EAA9A}"/>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2" name="object 16">
            <a:extLst>
              <a:ext uri="{FF2B5EF4-FFF2-40B4-BE49-F238E27FC236}">
                <a16:creationId xmlns:a16="http://schemas.microsoft.com/office/drawing/2014/main" id="{C9C1A409-BA02-D811-9669-A24A9F373EFD}"/>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b="1" dirty="0"/>
              <a:t>Learning outcome #1 – Effective index of a waveguide</a:t>
            </a:r>
            <a:br>
              <a:rPr lang="es-ES" sz="2500" spc="-5" dirty="0">
                <a:latin typeface="+mj-lt"/>
                <a:cs typeface="Lucida Sans"/>
              </a:rPr>
            </a:br>
            <a:endParaRPr sz="2500" b="0" dirty="0">
              <a:latin typeface="+mj-lt"/>
              <a:cs typeface="Lucida Sans"/>
            </a:endParaRPr>
          </a:p>
        </p:txBody>
      </p:sp>
      <p:sp>
        <p:nvSpPr>
          <p:cNvPr id="3" name="CuadroTexto 2">
            <a:extLst>
              <a:ext uri="{FF2B5EF4-FFF2-40B4-BE49-F238E27FC236}">
                <a16:creationId xmlns:a16="http://schemas.microsoft.com/office/drawing/2014/main" id="{B9497500-7684-7964-54AA-EB0133EE0461}"/>
              </a:ext>
            </a:extLst>
          </p:cNvPr>
          <p:cNvSpPr txBox="1"/>
          <p:nvPr/>
        </p:nvSpPr>
        <p:spPr>
          <a:xfrm>
            <a:off x="6646606" y="2300748"/>
            <a:ext cx="4237704" cy="1200329"/>
          </a:xfrm>
          <a:prstGeom prst="rect">
            <a:avLst/>
          </a:prstGeom>
          <a:noFill/>
        </p:spPr>
        <p:txBody>
          <a:bodyPr wrap="square" rtlCol="0">
            <a:spAutoFit/>
          </a:bodyPr>
          <a:lstStyle/>
          <a:p>
            <a:pPr algn="just"/>
            <a:r>
              <a:rPr lang="es-ES" dirty="0"/>
              <a:t>Material que se utilizará como cubierta para todos los ejercicios. Se establece un </a:t>
            </a:r>
            <a:r>
              <a:rPr lang="es-ES" dirty="0" err="1"/>
              <a:t>neff</a:t>
            </a:r>
            <a:r>
              <a:rPr lang="es-ES" dirty="0"/>
              <a:t> de 1.45 en todo su rango de longitudes de onda.</a:t>
            </a:r>
          </a:p>
        </p:txBody>
      </p:sp>
    </p:spTree>
    <p:extLst>
      <p:ext uri="{BB962C8B-B14F-4D97-AF65-F5344CB8AC3E}">
        <p14:creationId xmlns:p14="http://schemas.microsoft.com/office/powerpoint/2010/main" val="2585383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Marcador de contenido 7" descr="Gráfico&#10;&#10;El contenido generado por IA puede ser incorrecto.">
            <a:extLst>
              <a:ext uri="{FF2B5EF4-FFF2-40B4-BE49-F238E27FC236}">
                <a16:creationId xmlns:a16="http://schemas.microsoft.com/office/drawing/2014/main" id="{29BA79B6-D71E-FBBA-2F62-CC2ABD7D8EEF}"/>
              </a:ext>
            </a:extLst>
          </p:cNvPr>
          <p:cNvPicPr>
            <a:picLocks noGrp="1" noChangeAspect="1"/>
          </p:cNvPicPr>
          <p:nvPr>
            <p:ph sz="half" idx="2"/>
          </p:nvPr>
        </p:nvPicPr>
        <p:blipFill>
          <a:blip r:embed="rId2"/>
          <a:stretch>
            <a:fillRect/>
          </a:stretch>
        </p:blipFill>
        <p:spPr>
          <a:xfrm>
            <a:off x="666684" y="1966274"/>
            <a:ext cx="5189670" cy="3749365"/>
          </a:xfrm>
          <a:prstGeom prst="rect">
            <a:avLst/>
          </a:prstGeom>
        </p:spPr>
      </p:pic>
      <p:sp>
        <p:nvSpPr>
          <p:cNvPr id="4" name="Marcador de contenido 3">
            <a:extLst>
              <a:ext uri="{FF2B5EF4-FFF2-40B4-BE49-F238E27FC236}">
                <a16:creationId xmlns:a16="http://schemas.microsoft.com/office/drawing/2014/main" id="{0F325430-C5D8-22A7-345F-18192D1BEE32}"/>
              </a:ext>
            </a:extLst>
          </p:cNvPr>
          <p:cNvSpPr>
            <a:spLocks noGrp="1"/>
          </p:cNvSpPr>
          <p:nvPr>
            <p:ph sz="half" idx="3"/>
          </p:nvPr>
        </p:nvSpPr>
        <p:spPr>
          <a:xfrm>
            <a:off x="6301422" y="3935223"/>
            <a:ext cx="5303520" cy="1661993"/>
          </a:xfrm>
        </p:spPr>
        <p:txBody>
          <a:bodyPr wrap="square" lIns="0" tIns="0" rIns="0" bIns="0" anchor="t">
            <a:spAutoFit/>
          </a:bodyPr>
          <a:lstStyle/>
          <a:p>
            <a:pPr algn="just"/>
            <a:endParaRPr lang="es-ES" b="1" dirty="0"/>
          </a:p>
          <a:p>
            <a:pPr algn="just"/>
            <a:r>
              <a:rPr lang="es-ES" dirty="0"/>
              <a:t>Se puede observar como se obtiene de la simulación (de un núcleo de sin y una cubierta de sio2) un núcleo con n = 2 y una cubierta con n = 1,45. Por lo que habrá que buscar un </a:t>
            </a:r>
            <a:r>
              <a:rPr lang="es-ES" dirty="0" err="1"/>
              <a:t>neff</a:t>
            </a:r>
            <a:r>
              <a:rPr lang="es-ES" dirty="0"/>
              <a:t> que esté contenido entre ambos para que sea una solución guiada válida.</a:t>
            </a:r>
          </a:p>
        </p:txBody>
      </p:sp>
      <p:sp>
        <p:nvSpPr>
          <p:cNvPr id="5" name="Marcador de pie de página 4">
            <a:extLst>
              <a:ext uri="{FF2B5EF4-FFF2-40B4-BE49-F238E27FC236}">
                <a16:creationId xmlns:a16="http://schemas.microsoft.com/office/drawing/2014/main" id="{F35873CF-EA62-E4CE-F76F-3105C5CF8D06}"/>
              </a:ext>
            </a:extLst>
          </p:cNvPr>
          <p:cNvSpPr>
            <a:spLocks noGrp="1"/>
          </p:cNvSpPr>
          <p:nvPr>
            <p:ph type="ftr" sz="quarter" idx="5"/>
          </p:nvPr>
        </p:nvSpPr>
        <p:spPr/>
        <p:txBody>
          <a:bodyPr/>
          <a:lstStyle/>
          <a:p>
            <a:pPr marL="12700">
              <a:lnSpc>
                <a:spcPct val="100000"/>
              </a:lnSpc>
              <a:spcBef>
                <a:spcPts val="15"/>
              </a:spcBef>
            </a:pPr>
            <a:r>
              <a:rPr lang="es-ES" spc="-5"/>
              <a:t>LAB 1.0 WAVEGUIDES</a:t>
            </a:r>
          </a:p>
        </p:txBody>
      </p:sp>
      <p:sp>
        <p:nvSpPr>
          <p:cNvPr id="6" name="Marcador de número de diapositiva 5">
            <a:extLst>
              <a:ext uri="{FF2B5EF4-FFF2-40B4-BE49-F238E27FC236}">
                <a16:creationId xmlns:a16="http://schemas.microsoft.com/office/drawing/2014/main" id="{9F4A8566-FD09-C8A7-C892-EEDD91E5C9E1}"/>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TextBox 2">
            <a:extLst>
              <a:ext uri="{FF2B5EF4-FFF2-40B4-BE49-F238E27FC236}">
                <a16:creationId xmlns:a16="http://schemas.microsoft.com/office/drawing/2014/main" id="{CC37B17D-8232-8D6F-E8FF-3B9A9679A0E6}"/>
              </a:ext>
            </a:extLst>
          </p:cNvPr>
          <p:cNvSpPr txBox="1"/>
          <p:nvPr/>
        </p:nvSpPr>
        <p:spPr>
          <a:xfrm>
            <a:off x="666000" y="1596000"/>
            <a:ext cx="3960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b="1" dirty="0">
                <a:ea typeface="Calibri"/>
                <a:cs typeface="Calibri"/>
              </a:rPr>
              <a:t>1.2. Cross – </a:t>
            </a:r>
            <a:r>
              <a:rPr lang="es-ES" b="1" dirty="0" err="1">
                <a:ea typeface="Calibri"/>
                <a:cs typeface="Calibri"/>
              </a:rPr>
              <a:t>Section</a:t>
            </a:r>
            <a:r>
              <a:rPr lang="es-ES" b="1" dirty="0">
                <a:ea typeface="Calibri"/>
                <a:cs typeface="Calibri"/>
              </a:rPr>
              <a:t> </a:t>
            </a:r>
            <a:r>
              <a:rPr lang="es-ES" b="1" dirty="0" err="1">
                <a:ea typeface="Calibri"/>
                <a:cs typeface="Calibri"/>
              </a:rPr>
              <a:t>Definition</a:t>
            </a:r>
            <a:endParaRPr lang="en-US" dirty="0"/>
          </a:p>
        </p:txBody>
      </p:sp>
      <p:sp>
        <p:nvSpPr>
          <p:cNvPr id="2" name="object 16">
            <a:extLst>
              <a:ext uri="{FF2B5EF4-FFF2-40B4-BE49-F238E27FC236}">
                <a16:creationId xmlns:a16="http://schemas.microsoft.com/office/drawing/2014/main" id="{F56F9DD0-728A-98EF-9E68-57385719C786}"/>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b="1" dirty="0"/>
              <a:t>Learning outcome #1 – Effective index of a waveguide</a:t>
            </a:r>
            <a:br>
              <a:rPr lang="es-ES" sz="2500" spc="-5" dirty="0">
                <a:latin typeface="+mj-lt"/>
                <a:cs typeface="Lucida Sans"/>
              </a:rPr>
            </a:br>
            <a:endParaRPr sz="2500" b="0" dirty="0">
              <a:latin typeface="+mj-lt"/>
              <a:cs typeface="Lucida Sans"/>
            </a:endParaRPr>
          </a:p>
        </p:txBody>
      </p:sp>
      <p:sp>
        <p:nvSpPr>
          <p:cNvPr id="7" name="CuadroTexto 6">
            <a:extLst>
              <a:ext uri="{FF2B5EF4-FFF2-40B4-BE49-F238E27FC236}">
                <a16:creationId xmlns:a16="http://schemas.microsoft.com/office/drawing/2014/main" id="{66E42150-F1AB-A3BA-8426-37AC62299E66}"/>
              </a:ext>
            </a:extLst>
          </p:cNvPr>
          <p:cNvSpPr txBox="1"/>
          <p:nvPr/>
        </p:nvSpPr>
        <p:spPr>
          <a:xfrm>
            <a:off x="6301422" y="2045109"/>
            <a:ext cx="5103997" cy="923330"/>
          </a:xfrm>
          <a:prstGeom prst="rect">
            <a:avLst/>
          </a:prstGeom>
          <a:noFill/>
        </p:spPr>
        <p:txBody>
          <a:bodyPr wrap="square" rtlCol="0">
            <a:spAutoFit/>
          </a:bodyPr>
          <a:lstStyle/>
          <a:p>
            <a:pPr algn="just"/>
            <a:r>
              <a:rPr lang="es-ES" dirty="0"/>
              <a:t>Para los diferentes ejercicios se utilizará el Silicon </a:t>
            </a:r>
            <a:r>
              <a:rPr lang="es-ES" dirty="0" err="1"/>
              <a:t>Nitride</a:t>
            </a:r>
            <a:r>
              <a:rPr lang="es-ES" dirty="0"/>
              <a:t> como material de </a:t>
            </a:r>
            <a:r>
              <a:rPr lang="es-ES" dirty="0" err="1"/>
              <a:t>núcelo</a:t>
            </a:r>
            <a:r>
              <a:rPr lang="es-ES" dirty="0"/>
              <a:t> y el Silicon </a:t>
            </a:r>
            <a:r>
              <a:rPr lang="es-ES" dirty="0" err="1"/>
              <a:t>Dioxide</a:t>
            </a:r>
            <a:r>
              <a:rPr lang="es-ES" dirty="0"/>
              <a:t> como material de recubrimiento.</a:t>
            </a:r>
          </a:p>
        </p:txBody>
      </p:sp>
    </p:spTree>
    <p:extLst>
      <p:ext uri="{BB962C8B-B14F-4D97-AF65-F5344CB8AC3E}">
        <p14:creationId xmlns:p14="http://schemas.microsoft.com/office/powerpoint/2010/main" val="528817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48398-6F5C-4C3C-118F-6249F0E62469}"/>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5CB69CAF-2FD1-BE46-260B-C5C9A3B3B1A7}"/>
              </a:ext>
            </a:extLst>
          </p:cNvPr>
          <p:cNvSpPr>
            <a:spLocks noGrp="1"/>
          </p:cNvSpPr>
          <p:nvPr>
            <p:ph type="ftr" sz="quarter" idx="5"/>
          </p:nvPr>
        </p:nvSpPr>
        <p:spPr/>
        <p:txBody>
          <a:bodyPr/>
          <a:lstStyle/>
          <a:p>
            <a:pPr marL="12700">
              <a:lnSpc>
                <a:spcPct val="100000"/>
              </a:lnSpc>
              <a:spcBef>
                <a:spcPts val="15"/>
              </a:spcBef>
            </a:pPr>
            <a:r>
              <a:rPr lang="es-ES" spc="-5"/>
              <a:t>LAB 1.0 WAVEGUIDES</a:t>
            </a:r>
          </a:p>
        </p:txBody>
      </p:sp>
      <p:sp>
        <p:nvSpPr>
          <p:cNvPr id="6" name="Marcador de número de diapositiva 5">
            <a:extLst>
              <a:ext uri="{FF2B5EF4-FFF2-40B4-BE49-F238E27FC236}">
                <a16:creationId xmlns:a16="http://schemas.microsoft.com/office/drawing/2014/main" id="{A720C517-2A16-1049-8438-CB9329F3C52C}"/>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TextBox 2">
            <a:extLst>
              <a:ext uri="{FF2B5EF4-FFF2-40B4-BE49-F238E27FC236}">
                <a16:creationId xmlns:a16="http://schemas.microsoft.com/office/drawing/2014/main" id="{074D483B-8957-423B-C73A-C07DA1C88F73}"/>
              </a:ext>
            </a:extLst>
          </p:cNvPr>
          <p:cNvSpPr txBox="1"/>
          <p:nvPr/>
        </p:nvSpPr>
        <p:spPr>
          <a:xfrm>
            <a:off x="666000" y="1596000"/>
            <a:ext cx="3960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b="1" dirty="0">
                <a:ea typeface="Calibri"/>
                <a:cs typeface="Calibri"/>
              </a:rPr>
              <a:t>1.2. Cross – </a:t>
            </a:r>
            <a:r>
              <a:rPr lang="es-ES" b="1" dirty="0" err="1">
                <a:ea typeface="Calibri"/>
                <a:cs typeface="Calibri"/>
              </a:rPr>
              <a:t>Section</a:t>
            </a:r>
            <a:r>
              <a:rPr lang="es-ES" b="1" dirty="0">
                <a:ea typeface="Calibri"/>
                <a:cs typeface="Calibri"/>
              </a:rPr>
              <a:t> </a:t>
            </a:r>
            <a:r>
              <a:rPr lang="es-ES" b="1" dirty="0" err="1">
                <a:ea typeface="Calibri"/>
                <a:cs typeface="Calibri"/>
              </a:rPr>
              <a:t>Definition</a:t>
            </a:r>
            <a:endParaRPr lang="en-US" dirty="0"/>
          </a:p>
        </p:txBody>
      </p:sp>
      <p:sp>
        <p:nvSpPr>
          <p:cNvPr id="2" name="object 16">
            <a:extLst>
              <a:ext uri="{FF2B5EF4-FFF2-40B4-BE49-F238E27FC236}">
                <a16:creationId xmlns:a16="http://schemas.microsoft.com/office/drawing/2014/main" id="{39098D8F-221F-B87A-17CB-B64AACD0B803}"/>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b="1" dirty="0"/>
              <a:t>Learning outcome #1 – Effective index of a waveguide</a:t>
            </a:r>
            <a:br>
              <a:rPr lang="es-ES" sz="2500" spc="-5" dirty="0">
                <a:latin typeface="+mj-lt"/>
                <a:cs typeface="Lucida Sans"/>
              </a:rPr>
            </a:br>
            <a:endParaRPr sz="2500" b="0" dirty="0">
              <a:latin typeface="+mj-lt"/>
              <a:cs typeface="Lucida Sans"/>
            </a:endParaRPr>
          </a:p>
        </p:txBody>
      </p:sp>
      <p:sp>
        <p:nvSpPr>
          <p:cNvPr id="7" name="CuadroTexto 6">
            <a:extLst>
              <a:ext uri="{FF2B5EF4-FFF2-40B4-BE49-F238E27FC236}">
                <a16:creationId xmlns:a16="http://schemas.microsoft.com/office/drawing/2014/main" id="{5277FC95-39A5-9836-0020-035AF19B0AA3}"/>
              </a:ext>
            </a:extLst>
          </p:cNvPr>
          <p:cNvSpPr txBox="1"/>
          <p:nvPr/>
        </p:nvSpPr>
        <p:spPr>
          <a:xfrm>
            <a:off x="6301422" y="2045109"/>
            <a:ext cx="5103997" cy="646331"/>
          </a:xfrm>
          <a:prstGeom prst="rect">
            <a:avLst/>
          </a:prstGeom>
          <a:noFill/>
        </p:spPr>
        <p:txBody>
          <a:bodyPr wrap="square" rtlCol="0">
            <a:spAutoFit/>
          </a:bodyPr>
          <a:lstStyle/>
          <a:p>
            <a:pPr algn="just"/>
            <a:r>
              <a:rPr lang="es-ES" dirty="0"/>
              <a:t>Si se busca obtener una guía </a:t>
            </a:r>
            <a:r>
              <a:rPr lang="es-ES" dirty="0" err="1"/>
              <a:t>shallow</a:t>
            </a:r>
            <a:r>
              <a:rPr lang="es-ES" dirty="0"/>
              <a:t> en vez de una Deep, habría que añadir el escalón.</a:t>
            </a:r>
          </a:p>
        </p:txBody>
      </p:sp>
      <p:sp>
        <p:nvSpPr>
          <p:cNvPr id="12" name="Marcador de contenido 11">
            <a:extLst>
              <a:ext uri="{FF2B5EF4-FFF2-40B4-BE49-F238E27FC236}">
                <a16:creationId xmlns:a16="http://schemas.microsoft.com/office/drawing/2014/main" id="{AE6116B7-287F-01E1-3E35-89EDEBD04018}"/>
              </a:ext>
            </a:extLst>
          </p:cNvPr>
          <p:cNvSpPr>
            <a:spLocks noGrp="1"/>
          </p:cNvSpPr>
          <p:nvPr>
            <p:ph sz="half" idx="3"/>
          </p:nvPr>
        </p:nvSpPr>
        <p:spPr/>
        <p:txBody>
          <a:bodyPr/>
          <a:lstStyle/>
          <a:p>
            <a:endParaRPr lang="es-ES" dirty="0"/>
          </a:p>
        </p:txBody>
      </p:sp>
      <p:sp>
        <p:nvSpPr>
          <p:cNvPr id="14" name="Marcador de contenido 13">
            <a:extLst>
              <a:ext uri="{FF2B5EF4-FFF2-40B4-BE49-F238E27FC236}">
                <a16:creationId xmlns:a16="http://schemas.microsoft.com/office/drawing/2014/main" id="{C8F16C40-723A-BC3C-4B9F-87762FFD1082}"/>
              </a:ext>
            </a:extLst>
          </p:cNvPr>
          <p:cNvSpPr>
            <a:spLocks noGrp="1"/>
          </p:cNvSpPr>
          <p:nvPr>
            <p:ph sz="half" idx="2"/>
          </p:nvPr>
        </p:nvSpPr>
        <p:spPr/>
        <p:txBody>
          <a:bodyPr/>
          <a:lstStyle/>
          <a:p>
            <a:endParaRPr lang="es-ES"/>
          </a:p>
        </p:txBody>
      </p:sp>
      <p:pic>
        <p:nvPicPr>
          <p:cNvPr id="16" name="Imagen 15">
            <a:extLst>
              <a:ext uri="{FF2B5EF4-FFF2-40B4-BE49-F238E27FC236}">
                <a16:creationId xmlns:a16="http://schemas.microsoft.com/office/drawing/2014/main" id="{042D3DBE-11A5-A3F2-E059-A4A1CA6DE4CE}"/>
              </a:ext>
            </a:extLst>
          </p:cNvPr>
          <p:cNvPicPr>
            <a:picLocks noChangeAspect="1"/>
          </p:cNvPicPr>
          <p:nvPr/>
        </p:nvPicPr>
        <p:blipFill>
          <a:blip r:embed="rId2"/>
          <a:stretch>
            <a:fillRect/>
          </a:stretch>
        </p:blipFill>
        <p:spPr>
          <a:xfrm>
            <a:off x="593008" y="1894533"/>
            <a:ext cx="5276850" cy="3867150"/>
          </a:xfrm>
          <a:prstGeom prst="rect">
            <a:avLst/>
          </a:prstGeom>
        </p:spPr>
      </p:pic>
    </p:spTree>
    <p:extLst>
      <p:ext uri="{BB962C8B-B14F-4D97-AF65-F5344CB8AC3E}">
        <p14:creationId xmlns:p14="http://schemas.microsoft.com/office/powerpoint/2010/main" val="1467425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Marcador de contenido 7">
            <a:extLst>
              <a:ext uri="{FF2B5EF4-FFF2-40B4-BE49-F238E27FC236}">
                <a16:creationId xmlns:a16="http://schemas.microsoft.com/office/drawing/2014/main" id="{F40126AB-27B9-0557-CCC1-BC282CF49A97}"/>
              </a:ext>
            </a:extLst>
          </p:cNvPr>
          <p:cNvPicPr>
            <a:picLocks noGrp="1" noChangeAspect="1"/>
          </p:cNvPicPr>
          <p:nvPr>
            <p:ph sz="half" idx="2"/>
          </p:nvPr>
        </p:nvPicPr>
        <p:blipFill>
          <a:blip r:embed="rId2"/>
          <a:stretch>
            <a:fillRect/>
          </a:stretch>
        </p:blipFill>
        <p:spPr>
          <a:xfrm>
            <a:off x="1196320" y="2425871"/>
            <a:ext cx="4130398" cy="358171"/>
          </a:xfrm>
          <a:prstGeom prst="rect">
            <a:avLst/>
          </a:prstGeom>
        </p:spPr>
      </p:pic>
      <p:sp>
        <p:nvSpPr>
          <p:cNvPr id="4" name="Marcador de contenido 3">
            <a:extLst>
              <a:ext uri="{FF2B5EF4-FFF2-40B4-BE49-F238E27FC236}">
                <a16:creationId xmlns:a16="http://schemas.microsoft.com/office/drawing/2014/main" id="{3324C00B-6523-DC89-1998-1924666DE5D3}"/>
              </a:ext>
            </a:extLst>
          </p:cNvPr>
          <p:cNvSpPr>
            <a:spLocks noGrp="1"/>
          </p:cNvSpPr>
          <p:nvPr>
            <p:ph sz="half" idx="3"/>
          </p:nvPr>
        </p:nvSpPr>
        <p:spPr>
          <a:xfrm>
            <a:off x="6302880" y="1721340"/>
            <a:ext cx="5303520" cy="3046988"/>
          </a:xfrm>
        </p:spPr>
        <p:txBody>
          <a:bodyPr wrap="square" lIns="0" tIns="0" rIns="0" bIns="0" anchor="t">
            <a:spAutoFit/>
          </a:bodyPr>
          <a:lstStyle/>
          <a:p>
            <a:pPr algn="just"/>
            <a:endParaRPr lang="es-ES" b="1" dirty="0"/>
          </a:p>
          <a:p>
            <a:pPr algn="just"/>
            <a:r>
              <a:rPr lang="es-ES" dirty="0" err="1"/>
              <a:t>deep_waveguide.n_eff</a:t>
            </a:r>
            <a:r>
              <a:rPr lang="es-ES" dirty="0"/>
              <a:t>()</a:t>
            </a:r>
          </a:p>
          <a:p>
            <a:pPr algn="just"/>
            <a:endParaRPr lang="es-ES" dirty="0"/>
          </a:p>
          <a:p>
            <a:pPr algn="just"/>
            <a:r>
              <a:rPr lang="es-ES" dirty="0"/>
              <a:t>Nos debemos de fijar en la parte real de cada número y encontrar un </a:t>
            </a:r>
            <a:r>
              <a:rPr lang="es-ES" dirty="0" err="1"/>
              <a:t>neff</a:t>
            </a:r>
            <a:r>
              <a:rPr lang="es-ES" dirty="0"/>
              <a:t> que esté contenido entre el índice de refracción del núcleo y de la cubierta (1,45-2).</a:t>
            </a:r>
          </a:p>
          <a:p>
            <a:pPr algn="just"/>
            <a:endParaRPr lang="es-ES" dirty="0"/>
          </a:p>
          <a:p>
            <a:pPr algn="just"/>
            <a:r>
              <a:rPr lang="es-ES" dirty="0"/>
              <a:t>En este caso, los 3 primeros modos están comprendidos entre dicho rango (aunque el tercero se encuentra justo en el límite), lo que significa que la onda viaja centrada en dichas guías.</a:t>
            </a:r>
          </a:p>
        </p:txBody>
      </p:sp>
      <p:sp>
        <p:nvSpPr>
          <p:cNvPr id="5" name="Marcador de pie de página 4">
            <a:extLst>
              <a:ext uri="{FF2B5EF4-FFF2-40B4-BE49-F238E27FC236}">
                <a16:creationId xmlns:a16="http://schemas.microsoft.com/office/drawing/2014/main" id="{EE02DC55-C1C3-117A-B12B-EE68B166A749}"/>
              </a:ext>
            </a:extLst>
          </p:cNvPr>
          <p:cNvSpPr>
            <a:spLocks noGrp="1"/>
          </p:cNvSpPr>
          <p:nvPr>
            <p:ph type="ftr" sz="quarter" idx="5"/>
          </p:nvPr>
        </p:nvSpPr>
        <p:spPr/>
        <p:txBody>
          <a:bodyPr/>
          <a:lstStyle/>
          <a:p>
            <a:pPr marL="12700">
              <a:lnSpc>
                <a:spcPct val="100000"/>
              </a:lnSpc>
              <a:spcBef>
                <a:spcPts val="15"/>
              </a:spcBef>
            </a:pPr>
            <a:r>
              <a:rPr lang="es-ES" spc="-5"/>
              <a:t>LAB 1.0 WAVEGUIDES</a:t>
            </a:r>
          </a:p>
        </p:txBody>
      </p:sp>
      <p:sp>
        <p:nvSpPr>
          <p:cNvPr id="6" name="Marcador de número de diapositiva 5">
            <a:extLst>
              <a:ext uri="{FF2B5EF4-FFF2-40B4-BE49-F238E27FC236}">
                <a16:creationId xmlns:a16="http://schemas.microsoft.com/office/drawing/2014/main" id="{40BBA85D-2D8A-56DC-2380-1C0FEE77BFE9}"/>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7" name="TextBox 6">
            <a:extLst>
              <a:ext uri="{FF2B5EF4-FFF2-40B4-BE49-F238E27FC236}">
                <a16:creationId xmlns:a16="http://schemas.microsoft.com/office/drawing/2014/main" id="{2575AE35-23F1-EF0F-C4AD-775846AE2EE8}"/>
              </a:ext>
            </a:extLst>
          </p:cNvPr>
          <p:cNvSpPr txBox="1"/>
          <p:nvPr/>
        </p:nvSpPr>
        <p:spPr>
          <a:xfrm>
            <a:off x="1194000" y="1401000"/>
            <a:ext cx="27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800" b="1" baseline="0">
                <a:latin typeface="Calibri"/>
              </a:rPr>
              <a:t>1.3.1. Numerical results</a:t>
            </a:r>
            <a:endParaRPr lang="en-US"/>
          </a:p>
          <a:p>
            <a:pPr algn="ctr"/>
            <a:endParaRPr lang="en-US"/>
          </a:p>
        </p:txBody>
      </p:sp>
      <p:sp>
        <p:nvSpPr>
          <p:cNvPr id="2" name="object 16">
            <a:extLst>
              <a:ext uri="{FF2B5EF4-FFF2-40B4-BE49-F238E27FC236}">
                <a16:creationId xmlns:a16="http://schemas.microsoft.com/office/drawing/2014/main" id="{C6F72E28-2E47-EB31-9E67-A09242B446FF}"/>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b="1" dirty="0"/>
              <a:t>Learning outcome #1 – Effective index of a waveguide</a:t>
            </a:r>
            <a:br>
              <a:rPr lang="es-ES" sz="2500" spc="-5" dirty="0">
                <a:latin typeface="+mj-lt"/>
                <a:cs typeface="Lucida Sans"/>
              </a:rPr>
            </a:br>
            <a:endParaRPr sz="2500" b="0" dirty="0">
              <a:latin typeface="+mj-lt"/>
              <a:cs typeface="Lucida Sans"/>
            </a:endParaRPr>
          </a:p>
        </p:txBody>
      </p:sp>
    </p:spTree>
    <p:extLst>
      <p:ext uri="{BB962C8B-B14F-4D97-AF65-F5344CB8AC3E}">
        <p14:creationId xmlns:p14="http://schemas.microsoft.com/office/powerpoint/2010/main" val="495860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Marcador de contenido 7">
            <a:extLst>
              <a:ext uri="{FF2B5EF4-FFF2-40B4-BE49-F238E27FC236}">
                <a16:creationId xmlns:a16="http://schemas.microsoft.com/office/drawing/2014/main" id="{7B0347A5-79A9-819A-4F08-1CE2D87425D0}"/>
              </a:ext>
            </a:extLst>
          </p:cNvPr>
          <p:cNvPicPr>
            <a:picLocks noGrp="1" noChangeAspect="1"/>
          </p:cNvPicPr>
          <p:nvPr>
            <p:ph sz="half" idx="2"/>
          </p:nvPr>
        </p:nvPicPr>
        <p:blipFill>
          <a:blip r:embed="rId2"/>
          <a:stretch>
            <a:fillRect/>
          </a:stretch>
        </p:blipFill>
        <p:spPr>
          <a:xfrm>
            <a:off x="1184889" y="2521129"/>
            <a:ext cx="4153260" cy="167655"/>
          </a:xfrm>
          <a:prstGeom prst="rect">
            <a:avLst/>
          </a:prstGeom>
        </p:spPr>
      </p:pic>
      <p:sp>
        <p:nvSpPr>
          <p:cNvPr id="4" name="Marcador de contenido 3">
            <a:extLst>
              <a:ext uri="{FF2B5EF4-FFF2-40B4-BE49-F238E27FC236}">
                <a16:creationId xmlns:a16="http://schemas.microsoft.com/office/drawing/2014/main" id="{BC436E48-5685-F530-66CA-58824A4E44BF}"/>
              </a:ext>
            </a:extLst>
          </p:cNvPr>
          <p:cNvSpPr>
            <a:spLocks noGrp="1"/>
          </p:cNvSpPr>
          <p:nvPr>
            <p:ph sz="half" idx="3"/>
          </p:nvPr>
        </p:nvSpPr>
        <p:spPr>
          <a:xfrm>
            <a:off x="6278880" y="1577340"/>
            <a:ext cx="5303520" cy="1661993"/>
          </a:xfrm>
        </p:spPr>
        <p:txBody>
          <a:bodyPr wrap="square" lIns="0" tIns="0" rIns="0" bIns="0" anchor="t">
            <a:spAutoFit/>
          </a:bodyPr>
          <a:lstStyle/>
          <a:p>
            <a:endParaRPr lang="es-ES" b="1" dirty="0">
              <a:solidFill>
                <a:srgbClr val="000000"/>
              </a:solidFill>
              <a:latin typeface="Calibri"/>
              <a:ea typeface="Calibri"/>
              <a:cs typeface="Calibri"/>
            </a:endParaRPr>
          </a:p>
          <a:p>
            <a:r>
              <a:rPr lang="es-ES" dirty="0" err="1"/>
              <a:t>deep_waveguide.fraction_te</a:t>
            </a:r>
            <a:endParaRPr lang="es-ES" dirty="0"/>
          </a:p>
          <a:p>
            <a:pPr algn="just"/>
            <a:endParaRPr lang="es-ES" dirty="0"/>
          </a:p>
          <a:p>
            <a:pPr algn="just"/>
            <a:r>
              <a:rPr lang="es-ES" dirty="0"/>
              <a:t>Representa la fracción que pertenece al modo TE, se puede observar que el primer y tercer modo son casi completamente TE.</a:t>
            </a:r>
          </a:p>
        </p:txBody>
      </p:sp>
      <p:sp>
        <p:nvSpPr>
          <p:cNvPr id="5" name="Marcador de pie de página 4">
            <a:extLst>
              <a:ext uri="{FF2B5EF4-FFF2-40B4-BE49-F238E27FC236}">
                <a16:creationId xmlns:a16="http://schemas.microsoft.com/office/drawing/2014/main" id="{4A6EEDE3-B488-FFB8-F5DC-1C5239862956}"/>
              </a:ext>
            </a:extLst>
          </p:cNvPr>
          <p:cNvSpPr>
            <a:spLocks noGrp="1"/>
          </p:cNvSpPr>
          <p:nvPr>
            <p:ph type="ftr" sz="quarter" idx="5"/>
          </p:nvPr>
        </p:nvSpPr>
        <p:spPr/>
        <p:txBody>
          <a:bodyPr/>
          <a:lstStyle/>
          <a:p>
            <a:pPr marL="12700">
              <a:lnSpc>
                <a:spcPct val="100000"/>
              </a:lnSpc>
              <a:spcBef>
                <a:spcPts val="15"/>
              </a:spcBef>
            </a:pPr>
            <a:r>
              <a:rPr lang="es-ES" spc="-5"/>
              <a:t>LAB 1.0 WAVEGUIDES</a:t>
            </a:r>
          </a:p>
        </p:txBody>
      </p:sp>
      <p:sp>
        <p:nvSpPr>
          <p:cNvPr id="6" name="Marcador de número de diapositiva 5">
            <a:extLst>
              <a:ext uri="{FF2B5EF4-FFF2-40B4-BE49-F238E27FC236}">
                <a16:creationId xmlns:a16="http://schemas.microsoft.com/office/drawing/2014/main" id="{C85677D2-41DB-8624-1E41-8C10229FAAEB}"/>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2" name="TextBox 1">
            <a:extLst>
              <a:ext uri="{FF2B5EF4-FFF2-40B4-BE49-F238E27FC236}">
                <a16:creationId xmlns:a16="http://schemas.microsoft.com/office/drawing/2014/main" id="{AF6EDEE1-A4A2-3889-DA40-2F948F477121}"/>
              </a:ext>
            </a:extLst>
          </p:cNvPr>
          <p:cNvSpPr txBox="1"/>
          <p:nvPr/>
        </p:nvSpPr>
        <p:spPr>
          <a:xfrm>
            <a:off x="1182000" y="1575000"/>
            <a:ext cx="2532000" cy="640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800" b="1" baseline="0">
                <a:latin typeface="Calibri"/>
              </a:rPr>
              <a:t>1.3.1. Numerical results</a:t>
            </a:r>
            <a:endParaRPr lang="en-US"/>
          </a:p>
          <a:p>
            <a:pPr algn="ctr"/>
            <a:endParaRPr lang="en-US"/>
          </a:p>
        </p:txBody>
      </p:sp>
      <p:sp>
        <p:nvSpPr>
          <p:cNvPr id="3" name="object 16">
            <a:extLst>
              <a:ext uri="{FF2B5EF4-FFF2-40B4-BE49-F238E27FC236}">
                <a16:creationId xmlns:a16="http://schemas.microsoft.com/office/drawing/2014/main" id="{BD5DA770-074D-E894-A732-8F90089662A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b="1" dirty="0"/>
              <a:t>Learning outcome #1 – Effective index of a waveguide</a:t>
            </a:r>
            <a:br>
              <a:rPr lang="es-ES" sz="2500" spc="-5" dirty="0">
                <a:latin typeface="+mj-lt"/>
                <a:cs typeface="Lucida Sans"/>
              </a:rPr>
            </a:br>
            <a:endParaRPr sz="2500" b="0" dirty="0">
              <a:latin typeface="+mj-lt"/>
              <a:cs typeface="Lucida Sans"/>
            </a:endParaRPr>
          </a:p>
        </p:txBody>
      </p:sp>
    </p:spTree>
    <p:extLst>
      <p:ext uri="{BB962C8B-B14F-4D97-AF65-F5344CB8AC3E}">
        <p14:creationId xmlns:p14="http://schemas.microsoft.com/office/powerpoint/2010/main" val="854148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Marcador de contenido 7">
            <a:extLst>
              <a:ext uri="{FF2B5EF4-FFF2-40B4-BE49-F238E27FC236}">
                <a16:creationId xmlns:a16="http://schemas.microsoft.com/office/drawing/2014/main" id="{E24F4054-AE7E-625B-CB32-003E53D1414C}"/>
              </a:ext>
            </a:extLst>
          </p:cNvPr>
          <p:cNvPicPr>
            <a:picLocks noGrp="1" noChangeAspect="1"/>
          </p:cNvPicPr>
          <p:nvPr>
            <p:ph sz="half" idx="2"/>
          </p:nvPr>
        </p:nvPicPr>
        <p:blipFill>
          <a:blip r:embed="rId2"/>
          <a:stretch>
            <a:fillRect/>
          </a:stretch>
        </p:blipFill>
        <p:spPr>
          <a:xfrm>
            <a:off x="1184889" y="2217888"/>
            <a:ext cx="4153260" cy="198137"/>
          </a:xfrm>
          <a:prstGeom prst="rect">
            <a:avLst/>
          </a:prstGeom>
        </p:spPr>
      </p:pic>
      <p:sp>
        <p:nvSpPr>
          <p:cNvPr id="4" name="Marcador de contenido 3">
            <a:extLst>
              <a:ext uri="{FF2B5EF4-FFF2-40B4-BE49-F238E27FC236}">
                <a16:creationId xmlns:a16="http://schemas.microsoft.com/office/drawing/2014/main" id="{5AD5A475-3FDC-F23C-E5F2-C64925EA8CCD}"/>
              </a:ext>
            </a:extLst>
          </p:cNvPr>
          <p:cNvSpPr>
            <a:spLocks noGrp="1"/>
          </p:cNvSpPr>
          <p:nvPr>
            <p:ph sz="half" idx="3"/>
          </p:nvPr>
        </p:nvSpPr>
        <p:spPr>
          <a:xfrm>
            <a:off x="6290880" y="1547340"/>
            <a:ext cx="5291520" cy="2492990"/>
          </a:xfrm>
        </p:spPr>
        <p:txBody>
          <a:bodyPr wrap="square" lIns="0" tIns="0" rIns="0" bIns="0" anchor="t">
            <a:spAutoFit/>
          </a:bodyPr>
          <a:lstStyle/>
          <a:p>
            <a:endParaRPr lang="es-ES" b="1" dirty="0">
              <a:solidFill>
                <a:srgbClr val="000000"/>
              </a:solidFill>
              <a:latin typeface="Calibri"/>
              <a:ea typeface="Calibri"/>
              <a:cs typeface="Calibri"/>
            </a:endParaRPr>
          </a:p>
          <a:p>
            <a:pPr algn="just"/>
            <a:r>
              <a:rPr lang="es-ES" dirty="0" err="1"/>
              <a:t>deep_waveguide.fraction_tm</a:t>
            </a:r>
            <a:endParaRPr lang="es-ES" dirty="0"/>
          </a:p>
          <a:p>
            <a:pPr algn="just"/>
            <a:endParaRPr lang="es-ES" dirty="0"/>
          </a:p>
          <a:p>
            <a:pPr algn="just"/>
            <a:r>
              <a:rPr lang="es-ES" dirty="0"/>
              <a:t>Representa la fracción que pertenece al modo TM, se puede observar que el segundo y cuarto modo son casi completamente TM.</a:t>
            </a:r>
          </a:p>
          <a:p>
            <a:pPr algn="just"/>
            <a:endParaRPr lang="es-ES" dirty="0"/>
          </a:p>
          <a:p>
            <a:pPr algn="just"/>
            <a:r>
              <a:rPr lang="es-ES" dirty="0"/>
              <a:t>Obviamente, los modos muestran el resultado inverso del caso anterior.</a:t>
            </a:r>
          </a:p>
        </p:txBody>
      </p:sp>
      <p:sp>
        <p:nvSpPr>
          <p:cNvPr id="5" name="Marcador de pie de página 4">
            <a:extLst>
              <a:ext uri="{FF2B5EF4-FFF2-40B4-BE49-F238E27FC236}">
                <a16:creationId xmlns:a16="http://schemas.microsoft.com/office/drawing/2014/main" id="{1D263500-E649-7C7A-82AF-CEC28199F0AD}"/>
              </a:ext>
            </a:extLst>
          </p:cNvPr>
          <p:cNvSpPr>
            <a:spLocks noGrp="1"/>
          </p:cNvSpPr>
          <p:nvPr>
            <p:ph type="ftr" sz="quarter" idx="5"/>
          </p:nvPr>
        </p:nvSpPr>
        <p:spPr/>
        <p:txBody>
          <a:bodyPr/>
          <a:lstStyle/>
          <a:p>
            <a:pPr marL="12700">
              <a:lnSpc>
                <a:spcPct val="100000"/>
              </a:lnSpc>
              <a:spcBef>
                <a:spcPts val="15"/>
              </a:spcBef>
            </a:pPr>
            <a:r>
              <a:rPr lang="es-ES" spc="-5"/>
              <a:t>LAB 1.0 WAVEGUIDES</a:t>
            </a:r>
          </a:p>
        </p:txBody>
      </p:sp>
      <p:sp>
        <p:nvSpPr>
          <p:cNvPr id="6" name="Marcador de número de diapositiva 5">
            <a:extLst>
              <a:ext uri="{FF2B5EF4-FFF2-40B4-BE49-F238E27FC236}">
                <a16:creationId xmlns:a16="http://schemas.microsoft.com/office/drawing/2014/main" id="{6DD7C23A-DAC1-1E1B-A275-FB78FF8602C8}"/>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2" name="TextBox 1">
            <a:extLst>
              <a:ext uri="{FF2B5EF4-FFF2-40B4-BE49-F238E27FC236}">
                <a16:creationId xmlns:a16="http://schemas.microsoft.com/office/drawing/2014/main" id="{EEF05B18-CF82-E86B-FC12-1F76DBD60DD4}"/>
              </a:ext>
            </a:extLst>
          </p:cNvPr>
          <p:cNvSpPr txBox="1"/>
          <p:nvPr/>
        </p:nvSpPr>
        <p:spPr>
          <a:xfrm>
            <a:off x="1182000" y="1575000"/>
            <a:ext cx="2832000" cy="640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800" b="1" baseline="0">
                <a:latin typeface="Calibri"/>
              </a:rPr>
              <a:t>1.3.1. Numerical results</a:t>
            </a:r>
            <a:endParaRPr lang="en-US"/>
          </a:p>
          <a:p>
            <a:pPr algn="ctr"/>
            <a:endParaRPr lang="en-US"/>
          </a:p>
        </p:txBody>
      </p:sp>
      <p:sp>
        <p:nvSpPr>
          <p:cNvPr id="3" name="object 16">
            <a:extLst>
              <a:ext uri="{FF2B5EF4-FFF2-40B4-BE49-F238E27FC236}">
                <a16:creationId xmlns:a16="http://schemas.microsoft.com/office/drawing/2014/main" id="{49FA36F5-D55A-3112-717B-B28A9F3C527B}"/>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b="1" dirty="0"/>
              <a:t>Learning outcome #1 – Effective index of a waveguide</a:t>
            </a:r>
            <a:br>
              <a:rPr lang="es-ES" sz="2500" spc="-5" dirty="0">
                <a:latin typeface="+mj-lt"/>
                <a:cs typeface="Lucida Sans"/>
              </a:rPr>
            </a:br>
            <a:endParaRPr sz="2500" b="0" dirty="0">
              <a:latin typeface="+mj-lt"/>
              <a:cs typeface="Lucida Sans"/>
            </a:endParaRPr>
          </a:p>
        </p:txBody>
      </p:sp>
    </p:spTree>
    <p:extLst>
      <p:ext uri="{BB962C8B-B14F-4D97-AF65-F5344CB8AC3E}">
        <p14:creationId xmlns:p14="http://schemas.microsoft.com/office/powerpoint/2010/main" val="1817622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Marcador de contenido 7" descr="Gráfico&#10;&#10;El contenido generado por IA puede ser incorrecto.">
            <a:extLst>
              <a:ext uri="{FF2B5EF4-FFF2-40B4-BE49-F238E27FC236}">
                <a16:creationId xmlns:a16="http://schemas.microsoft.com/office/drawing/2014/main" id="{937812E0-E093-8A20-B505-533479051816}"/>
              </a:ext>
            </a:extLst>
          </p:cNvPr>
          <p:cNvPicPr>
            <a:picLocks noGrp="1" noChangeAspect="1"/>
          </p:cNvPicPr>
          <p:nvPr>
            <p:ph sz="half" idx="2"/>
          </p:nvPr>
        </p:nvPicPr>
        <p:blipFill>
          <a:blip r:embed="rId2"/>
          <a:stretch>
            <a:fillRect/>
          </a:stretch>
        </p:blipFill>
        <p:spPr>
          <a:xfrm>
            <a:off x="609600" y="2479315"/>
            <a:ext cx="5303838" cy="3563282"/>
          </a:xfrm>
          <a:prstGeom prst="rect">
            <a:avLst/>
          </a:prstGeom>
        </p:spPr>
      </p:pic>
      <p:sp>
        <p:nvSpPr>
          <p:cNvPr id="4" name="Marcador de contenido 3">
            <a:extLst>
              <a:ext uri="{FF2B5EF4-FFF2-40B4-BE49-F238E27FC236}">
                <a16:creationId xmlns:a16="http://schemas.microsoft.com/office/drawing/2014/main" id="{5E13A5A9-8E90-F0D0-5457-0515259E28F5}"/>
              </a:ext>
            </a:extLst>
          </p:cNvPr>
          <p:cNvSpPr>
            <a:spLocks noGrp="1"/>
          </p:cNvSpPr>
          <p:nvPr>
            <p:ph sz="half" idx="3"/>
          </p:nvPr>
        </p:nvSpPr>
        <p:spPr>
          <a:xfrm>
            <a:off x="6296880" y="2465340"/>
            <a:ext cx="5285520" cy="1107996"/>
          </a:xfrm>
        </p:spPr>
        <p:txBody>
          <a:bodyPr wrap="square" lIns="0" tIns="0" rIns="0" bIns="0" anchor="t">
            <a:spAutoFit/>
          </a:bodyPr>
          <a:lstStyle/>
          <a:p>
            <a:pPr algn="just"/>
            <a:endParaRPr lang="es-ES" b="1" dirty="0"/>
          </a:p>
          <a:p>
            <a:pPr algn="just"/>
            <a:r>
              <a:rPr lang="es-ES" dirty="0"/>
              <a:t>El primer modo se muestra muy confinado en la guía de onda, ya que muestra la luz más centrada, debido a que su </a:t>
            </a:r>
            <a:r>
              <a:rPr lang="es-ES" dirty="0" err="1"/>
              <a:t>neff</a:t>
            </a:r>
            <a:r>
              <a:rPr lang="es-ES" dirty="0"/>
              <a:t> se encuentra dentro de los valores válidos.</a:t>
            </a:r>
          </a:p>
        </p:txBody>
      </p:sp>
      <p:sp>
        <p:nvSpPr>
          <p:cNvPr id="5" name="Marcador de pie de página 4">
            <a:extLst>
              <a:ext uri="{FF2B5EF4-FFF2-40B4-BE49-F238E27FC236}">
                <a16:creationId xmlns:a16="http://schemas.microsoft.com/office/drawing/2014/main" id="{74576598-84D5-9B64-94A1-D7B7E94537D7}"/>
              </a:ext>
            </a:extLst>
          </p:cNvPr>
          <p:cNvSpPr>
            <a:spLocks noGrp="1"/>
          </p:cNvSpPr>
          <p:nvPr>
            <p:ph type="ftr" sz="quarter" idx="5"/>
          </p:nvPr>
        </p:nvSpPr>
        <p:spPr/>
        <p:txBody>
          <a:bodyPr/>
          <a:lstStyle/>
          <a:p>
            <a:pPr marL="12700">
              <a:lnSpc>
                <a:spcPct val="100000"/>
              </a:lnSpc>
              <a:spcBef>
                <a:spcPts val="15"/>
              </a:spcBef>
            </a:pPr>
            <a:r>
              <a:rPr lang="es-ES" spc="-5"/>
              <a:t>LAB 1.0 WAVEGUIDES</a:t>
            </a:r>
          </a:p>
        </p:txBody>
      </p:sp>
      <p:sp>
        <p:nvSpPr>
          <p:cNvPr id="6" name="Marcador de número de diapositiva 5">
            <a:extLst>
              <a:ext uri="{FF2B5EF4-FFF2-40B4-BE49-F238E27FC236}">
                <a16:creationId xmlns:a16="http://schemas.microsoft.com/office/drawing/2014/main" id="{58A58A18-9860-7889-2591-0271BFE4A384}"/>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2" name="TextBox 1">
            <a:extLst>
              <a:ext uri="{FF2B5EF4-FFF2-40B4-BE49-F238E27FC236}">
                <a16:creationId xmlns:a16="http://schemas.microsoft.com/office/drawing/2014/main" id="{C06F40D3-3755-5ACF-82A2-F86DD8F4DD45}"/>
              </a:ext>
            </a:extLst>
          </p:cNvPr>
          <p:cNvSpPr txBox="1"/>
          <p:nvPr/>
        </p:nvSpPr>
        <p:spPr>
          <a:xfrm>
            <a:off x="612000" y="1575000"/>
            <a:ext cx="1656000" cy="640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800" b="1" baseline="0">
                <a:latin typeface="Calibri"/>
              </a:rPr>
              <a:t>1.3.4. Plots</a:t>
            </a:r>
            <a:endParaRPr lang="en-US"/>
          </a:p>
          <a:p>
            <a:pPr algn="ctr"/>
            <a:endParaRPr lang="en-US"/>
          </a:p>
        </p:txBody>
      </p:sp>
      <p:sp>
        <p:nvSpPr>
          <p:cNvPr id="3" name="object 16">
            <a:extLst>
              <a:ext uri="{FF2B5EF4-FFF2-40B4-BE49-F238E27FC236}">
                <a16:creationId xmlns:a16="http://schemas.microsoft.com/office/drawing/2014/main" id="{161DCD62-880A-B959-2AD2-CA84ED2935D8}"/>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b="1" dirty="0"/>
              <a:t>Learning outcome #1 – Effective index of a waveguide</a:t>
            </a:r>
            <a:br>
              <a:rPr lang="es-ES" sz="2500" spc="-5" dirty="0">
                <a:latin typeface="+mj-lt"/>
                <a:cs typeface="Lucida Sans"/>
              </a:rPr>
            </a:br>
            <a:endParaRPr sz="2500" b="0" dirty="0">
              <a:latin typeface="+mj-lt"/>
              <a:cs typeface="Lucida Sans"/>
            </a:endParaRPr>
          </a:p>
        </p:txBody>
      </p:sp>
      <p:sp>
        <p:nvSpPr>
          <p:cNvPr id="7" name="CuadroTexto 6">
            <a:extLst>
              <a:ext uri="{FF2B5EF4-FFF2-40B4-BE49-F238E27FC236}">
                <a16:creationId xmlns:a16="http://schemas.microsoft.com/office/drawing/2014/main" id="{9A6FAAD2-7D05-3376-78B3-5500793A7F78}"/>
              </a:ext>
            </a:extLst>
          </p:cNvPr>
          <p:cNvSpPr txBox="1"/>
          <p:nvPr/>
        </p:nvSpPr>
        <p:spPr>
          <a:xfrm>
            <a:off x="6296880" y="4080387"/>
            <a:ext cx="5123006" cy="369332"/>
          </a:xfrm>
          <a:prstGeom prst="rect">
            <a:avLst/>
          </a:prstGeom>
          <a:noFill/>
        </p:spPr>
        <p:txBody>
          <a:bodyPr wrap="none" rtlCol="0">
            <a:spAutoFit/>
          </a:bodyPr>
          <a:lstStyle/>
          <a:p>
            <a:r>
              <a:rPr lang="es-ES" dirty="0"/>
              <a:t>Se representa la parte TE ya que es la predominante.</a:t>
            </a:r>
          </a:p>
        </p:txBody>
      </p:sp>
    </p:spTree>
    <p:extLst>
      <p:ext uri="{BB962C8B-B14F-4D97-AF65-F5344CB8AC3E}">
        <p14:creationId xmlns:p14="http://schemas.microsoft.com/office/powerpoint/2010/main" val="455779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E8A42-8A91-1C19-C5B2-25B891B103D5}"/>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D29346A4-C2C1-3EE4-5143-1A2922F2C288}"/>
              </a:ext>
            </a:extLst>
          </p:cNvPr>
          <p:cNvSpPr>
            <a:spLocks noGrp="1"/>
          </p:cNvSpPr>
          <p:nvPr>
            <p:ph sz="half" idx="3"/>
          </p:nvPr>
        </p:nvSpPr>
        <p:spPr>
          <a:xfrm>
            <a:off x="6302880" y="1895340"/>
            <a:ext cx="5303520" cy="1384995"/>
          </a:xfrm>
        </p:spPr>
        <p:txBody>
          <a:bodyPr wrap="square" lIns="0" tIns="0" rIns="0" bIns="0" anchor="t">
            <a:spAutoFit/>
          </a:bodyPr>
          <a:lstStyle/>
          <a:p>
            <a:pPr algn="just"/>
            <a:endParaRPr lang="es-ES" b="1" dirty="0">
              <a:solidFill>
                <a:srgbClr val="000000"/>
              </a:solidFill>
              <a:latin typeface="Calibri"/>
              <a:ea typeface="Calibri"/>
              <a:cs typeface="Calibri"/>
            </a:endParaRPr>
          </a:p>
          <a:p>
            <a:pPr algn="just"/>
            <a:r>
              <a:rPr lang="es-ES" dirty="0"/>
              <a:t>En el segundo modo se muestra que hay parte de la luz dentro y parte que se sale. Aun así, muestra un buen resultado, dado que su </a:t>
            </a:r>
            <a:r>
              <a:rPr lang="es-ES" dirty="0" err="1"/>
              <a:t>neff</a:t>
            </a:r>
            <a:r>
              <a:rPr lang="es-ES" dirty="0"/>
              <a:t> se encuentra dentro de los límites.</a:t>
            </a:r>
          </a:p>
        </p:txBody>
      </p:sp>
      <p:sp>
        <p:nvSpPr>
          <p:cNvPr id="5" name="Marcador de pie de página 4">
            <a:extLst>
              <a:ext uri="{FF2B5EF4-FFF2-40B4-BE49-F238E27FC236}">
                <a16:creationId xmlns:a16="http://schemas.microsoft.com/office/drawing/2014/main" id="{70AA4B2C-5BE4-79E8-7465-FBD4E67C2FB0}"/>
              </a:ext>
            </a:extLst>
          </p:cNvPr>
          <p:cNvSpPr>
            <a:spLocks noGrp="1"/>
          </p:cNvSpPr>
          <p:nvPr>
            <p:ph type="ftr" sz="quarter" idx="5"/>
          </p:nvPr>
        </p:nvSpPr>
        <p:spPr/>
        <p:txBody>
          <a:bodyPr/>
          <a:lstStyle/>
          <a:p>
            <a:pPr marL="12700">
              <a:lnSpc>
                <a:spcPct val="100000"/>
              </a:lnSpc>
              <a:spcBef>
                <a:spcPts val="15"/>
              </a:spcBef>
            </a:pPr>
            <a:r>
              <a:rPr lang="es-ES" spc="-5"/>
              <a:t>LAB 1.0 WAVEGUIDES</a:t>
            </a:r>
          </a:p>
        </p:txBody>
      </p:sp>
      <p:sp>
        <p:nvSpPr>
          <p:cNvPr id="6" name="Marcador de número de diapositiva 5">
            <a:extLst>
              <a:ext uri="{FF2B5EF4-FFF2-40B4-BE49-F238E27FC236}">
                <a16:creationId xmlns:a16="http://schemas.microsoft.com/office/drawing/2014/main" id="{414175AD-9798-B711-FA9E-737B63B89A0D}"/>
              </a:ext>
            </a:extLst>
          </p:cNvPr>
          <p:cNvSpPr>
            <a:spLocks noGrp="1"/>
          </p:cNvSpPr>
          <p:nvPr>
            <p:ph type="sldNum" sz="quarter" idx="7"/>
          </p:nvPr>
        </p:nvSpPr>
        <p:spPr/>
        <p:txBody>
          <a:bodyPr/>
          <a:lstStyle/>
          <a:p>
            <a:fld id="{B6F15528-21DE-4FAA-801E-634DDDAF4B2B}" type="slidenum">
              <a:rPr lang="es-ES" smtClean="0"/>
              <a:t>13</a:t>
            </a:fld>
            <a:endParaRPr lang="es-ES"/>
          </a:p>
        </p:txBody>
      </p:sp>
      <p:pic>
        <p:nvPicPr>
          <p:cNvPr id="9" name="Marcador de contenido 8" descr="Gráfico&#10;&#10;El contenido generado por IA puede ser incorrecto.">
            <a:extLst>
              <a:ext uri="{FF2B5EF4-FFF2-40B4-BE49-F238E27FC236}">
                <a16:creationId xmlns:a16="http://schemas.microsoft.com/office/drawing/2014/main" id="{875A3A21-42A3-D683-8654-EB23242F03E2}"/>
              </a:ext>
            </a:extLst>
          </p:cNvPr>
          <p:cNvPicPr>
            <a:picLocks noGrp="1" noChangeAspect="1"/>
          </p:cNvPicPr>
          <p:nvPr>
            <p:ph sz="half" idx="2"/>
          </p:nvPr>
        </p:nvPicPr>
        <p:blipFill>
          <a:blip r:embed="rId2"/>
          <a:stretch>
            <a:fillRect/>
          </a:stretch>
        </p:blipFill>
        <p:spPr>
          <a:xfrm>
            <a:off x="609600" y="2069265"/>
            <a:ext cx="5303838" cy="3543382"/>
          </a:xfrm>
          <a:prstGeom prst="rect">
            <a:avLst/>
          </a:prstGeom>
        </p:spPr>
      </p:pic>
      <p:sp>
        <p:nvSpPr>
          <p:cNvPr id="2" name="TextBox 1">
            <a:extLst>
              <a:ext uri="{FF2B5EF4-FFF2-40B4-BE49-F238E27FC236}">
                <a16:creationId xmlns:a16="http://schemas.microsoft.com/office/drawing/2014/main" id="{EFC16F80-5DFC-FF06-B0AA-09B0AD7837FA}"/>
              </a:ext>
            </a:extLst>
          </p:cNvPr>
          <p:cNvSpPr txBox="1"/>
          <p:nvPr/>
        </p:nvSpPr>
        <p:spPr>
          <a:xfrm>
            <a:off x="972000" y="1575000"/>
            <a:ext cx="1356000" cy="640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800" b="1" baseline="0">
                <a:latin typeface="Calibri"/>
              </a:rPr>
              <a:t>1.3.4. Plots</a:t>
            </a:r>
            <a:endParaRPr lang="en-US"/>
          </a:p>
          <a:p>
            <a:pPr algn="ctr"/>
            <a:endParaRPr lang="en-US"/>
          </a:p>
        </p:txBody>
      </p:sp>
      <p:sp>
        <p:nvSpPr>
          <p:cNvPr id="3" name="object 16">
            <a:extLst>
              <a:ext uri="{FF2B5EF4-FFF2-40B4-BE49-F238E27FC236}">
                <a16:creationId xmlns:a16="http://schemas.microsoft.com/office/drawing/2014/main" id="{25B8D8C3-36F1-F962-998D-EB6CD32C8139}"/>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b="1" dirty="0"/>
              <a:t>Learning outcome #1 – Effective index of a waveguide</a:t>
            </a:r>
            <a:br>
              <a:rPr lang="es-ES" sz="2500" spc="-5" dirty="0">
                <a:latin typeface="+mj-lt"/>
                <a:cs typeface="Lucida Sans"/>
              </a:rPr>
            </a:br>
            <a:endParaRPr sz="2500" b="0" dirty="0">
              <a:latin typeface="+mj-lt"/>
              <a:cs typeface="Lucida Sans"/>
            </a:endParaRPr>
          </a:p>
        </p:txBody>
      </p:sp>
      <p:sp>
        <p:nvSpPr>
          <p:cNvPr id="7" name="CuadroTexto 6">
            <a:extLst>
              <a:ext uri="{FF2B5EF4-FFF2-40B4-BE49-F238E27FC236}">
                <a16:creationId xmlns:a16="http://schemas.microsoft.com/office/drawing/2014/main" id="{ED5AF775-2176-D71B-79D6-866FD5D2BFDE}"/>
              </a:ext>
            </a:extLst>
          </p:cNvPr>
          <p:cNvSpPr txBox="1"/>
          <p:nvPr/>
        </p:nvSpPr>
        <p:spPr>
          <a:xfrm>
            <a:off x="6296880" y="4080387"/>
            <a:ext cx="5207964" cy="369332"/>
          </a:xfrm>
          <a:prstGeom prst="rect">
            <a:avLst/>
          </a:prstGeom>
          <a:noFill/>
        </p:spPr>
        <p:txBody>
          <a:bodyPr wrap="none" rtlCol="0">
            <a:spAutoFit/>
          </a:bodyPr>
          <a:lstStyle/>
          <a:p>
            <a:r>
              <a:rPr lang="es-ES" dirty="0"/>
              <a:t>Se representa la parte TM ya que es la predominante.</a:t>
            </a:r>
          </a:p>
        </p:txBody>
      </p:sp>
    </p:spTree>
    <p:extLst>
      <p:ext uri="{BB962C8B-B14F-4D97-AF65-F5344CB8AC3E}">
        <p14:creationId xmlns:p14="http://schemas.microsoft.com/office/powerpoint/2010/main" val="14881881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9F734-7E07-4CBD-AE25-87593D8E783C}"/>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5850311C-2A90-9653-4FEB-5773B50036D8}"/>
              </a:ext>
            </a:extLst>
          </p:cNvPr>
          <p:cNvSpPr>
            <a:spLocks noGrp="1"/>
          </p:cNvSpPr>
          <p:nvPr>
            <p:ph sz="half" idx="3"/>
          </p:nvPr>
        </p:nvSpPr>
        <p:spPr>
          <a:xfrm>
            <a:off x="6290880" y="2069340"/>
            <a:ext cx="5291520" cy="830997"/>
          </a:xfrm>
        </p:spPr>
        <p:txBody>
          <a:bodyPr wrap="square" lIns="0" tIns="0" rIns="0" bIns="0" anchor="t">
            <a:spAutoFit/>
          </a:bodyPr>
          <a:lstStyle/>
          <a:p>
            <a:pPr algn="just"/>
            <a:endParaRPr lang="es-ES" b="1" dirty="0">
              <a:solidFill>
                <a:srgbClr val="000000"/>
              </a:solidFill>
              <a:latin typeface="Calibri"/>
              <a:ea typeface="Calibri"/>
              <a:cs typeface="Calibri"/>
            </a:endParaRPr>
          </a:p>
          <a:p>
            <a:pPr algn="just"/>
            <a:r>
              <a:rPr lang="es-ES" dirty="0"/>
              <a:t>En el tercer modo ya hay mucha luz fuera del núcleo, ya que su </a:t>
            </a:r>
            <a:r>
              <a:rPr lang="es-ES" dirty="0" err="1"/>
              <a:t>neff</a:t>
            </a:r>
            <a:r>
              <a:rPr lang="es-ES" dirty="0"/>
              <a:t> está al límite del permitido.</a:t>
            </a:r>
          </a:p>
        </p:txBody>
      </p:sp>
      <p:sp>
        <p:nvSpPr>
          <p:cNvPr id="5" name="Marcador de pie de página 4">
            <a:extLst>
              <a:ext uri="{FF2B5EF4-FFF2-40B4-BE49-F238E27FC236}">
                <a16:creationId xmlns:a16="http://schemas.microsoft.com/office/drawing/2014/main" id="{E756DC77-5293-D466-5B39-EB0670A6DEDB}"/>
              </a:ext>
            </a:extLst>
          </p:cNvPr>
          <p:cNvSpPr>
            <a:spLocks noGrp="1"/>
          </p:cNvSpPr>
          <p:nvPr>
            <p:ph type="ftr" sz="quarter" idx="5"/>
          </p:nvPr>
        </p:nvSpPr>
        <p:spPr/>
        <p:txBody>
          <a:bodyPr/>
          <a:lstStyle/>
          <a:p>
            <a:pPr marL="12700">
              <a:lnSpc>
                <a:spcPct val="100000"/>
              </a:lnSpc>
              <a:spcBef>
                <a:spcPts val="15"/>
              </a:spcBef>
            </a:pPr>
            <a:r>
              <a:rPr lang="es-ES" spc="-5"/>
              <a:t>LAB 1.0 WAVEGUIDES</a:t>
            </a:r>
          </a:p>
        </p:txBody>
      </p:sp>
      <p:sp>
        <p:nvSpPr>
          <p:cNvPr id="6" name="Marcador de número de diapositiva 5">
            <a:extLst>
              <a:ext uri="{FF2B5EF4-FFF2-40B4-BE49-F238E27FC236}">
                <a16:creationId xmlns:a16="http://schemas.microsoft.com/office/drawing/2014/main" id="{EF21E738-CB39-D47E-4BD3-D8E2D1D024AE}"/>
              </a:ext>
            </a:extLst>
          </p:cNvPr>
          <p:cNvSpPr>
            <a:spLocks noGrp="1"/>
          </p:cNvSpPr>
          <p:nvPr>
            <p:ph type="sldNum" sz="quarter" idx="7"/>
          </p:nvPr>
        </p:nvSpPr>
        <p:spPr/>
        <p:txBody>
          <a:bodyPr/>
          <a:lstStyle/>
          <a:p>
            <a:fld id="{B6F15528-21DE-4FAA-801E-634DDDAF4B2B}" type="slidenum">
              <a:rPr lang="es-ES" smtClean="0"/>
              <a:t>14</a:t>
            </a:fld>
            <a:endParaRPr lang="es-ES"/>
          </a:p>
        </p:txBody>
      </p:sp>
      <p:pic>
        <p:nvPicPr>
          <p:cNvPr id="11" name="Marcador de contenido 10" descr="Gráfico&#10;&#10;El contenido generado por IA puede ser incorrecto.">
            <a:extLst>
              <a:ext uri="{FF2B5EF4-FFF2-40B4-BE49-F238E27FC236}">
                <a16:creationId xmlns:a16="http://schemas.microsoft.com/office/drawing/2014/main" id="{491D2C4D-DBD5-E052-C7F6-F685B4EC829D}"/>
              </a:ext>
            </a:extLst>
          </p:cNvPr>
          <p:cNvPicPr>
            <a:picLocks noGrp="1" noChangeAspect="1"/>
          </p:cNvPicPr>
          <p:nvPr>
            <p:ph sz="half" idx="2"/>
          </p:nvPr>
        </p:nvPicPr>
        <p:blipFill>
          <a:blip r:embed="rId2"/>
          <a:stretch>
            <a:fillRect/>
          </a:stretch>
        </p:blipFill>
        <p:spPr>
          <a:xfrm>
            <a:off x="609600" y="2074230"/>
            <a:ext cx="5303838" cy="3533453"/>
          </a:xfrm>
          <a:prstGeom prst="rect">
            <a:avLst/>
          </a:prstGeom>
        </p:spPr>
      </p:pic>
      <p:sp>
        <p:nvSpPr>
          <p:cNvPr id="2" name="TextBox 1">
            <a:extLst>
              <a:ext uri="{FF2B5EF4-FFF2-40B4-BE49-F238E27FC236}">
                <a16:creationId xmlns:a16="http://schemas.microsoft.com/office/drawing/2014/main" id="{C09A5AAA-7261-786E-BB0A-3AC29B7AF9E0}"/>
              </a:ext>
            </a:extLst>
          </p:cNvPr>
          <p:cNvSpPr txBox="1"/>
          <p:nvPr/>
        </p:nvSpPr>
        <p:spPr>
          <a:xfrm>
            <a:off x="612000" y="1701000"/>
            <a:ext cx="135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800" b="1" baseline="0">
                <a:latin typeface="Calibri"/>
              </a:rPr>
              <a:t>1.3.4. </a:t>
            </a:r>
            <a:r>
              <a:rPr lang="es-ES" b="1" err="1">
                <a:latin typeface="Calibri"/>
              </a:rPr>
              <a:t>Plots</a:t>
            </a:r>
            <a:endParaRPr lang="en-US" err="1"/>
          </a:p>
        </p:txBody>
      </p:sp>
      <p:sp>
        <p:nvSpPr>
          <p:cNvPr id="3" name="object 16">
            <a:extLst>
              <a:ext uri="{FF2B5EF4-FFF2-40B4-BE49-F238E27FC236}">
                <a16:creationId xmlns:a16="http://schemas.microsoft.com/office/drawing/2014/main" id="{81E06953-E7B2-3590-A70A-F5D6996F7AEB}"/>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b="1" dirty="0"/>
              <a:t>Learning outcome #1 – Effective index of a waveguide</a:t>
            </a:r>
            <a:br>
              <a:rPr lang="es-ES" sz="2500" spc="-5" dirty="0">
                <a:latin typeface="+mj-lt"/>
                <a:cs typeface="Lucida Sans"/>
              </a:rPr>
            </a:br>
            <a:endParaRPr sz="2500" b="0" dirty="0">
              <a:latin typeface="+mj-lt"/>
              <a:cs typeface="Lucida Sans"/>
            </a:endParaRPr>
          </a:p>
        </p:txBody>
      </p:sp>
      <p:sp>
        <p:nvSpPr>
          <p:cNvPr id="7" name="CuadroTexto 6">
            <a:extLst>
              <a:ext uri="{FF2B5EF4-FFF2-40B4-BE49-F238E27FC236}">
                <a16:creationId xmlns:a16="http://schemas.microsoft.com/office/drawing/2014/main" id="{1BD947D2-E29C-5BA6-02C7-65C13B00E527}"/>
              </a:ext>
            </a:extLst>
          </p:cNvPr>
          <p:cNvSpPr txBox="1"/>
          <p:nvPr/>
        </p:nvSpPr>
        <p:spPr>
          <a:xfrm>
            <a:off x="6296880" y="4080387"/>
            <a:ext cx="5123006" cy="369332"/>
          </a:xfrm>
          <a:prstGeom prst="rect">
            <a:avLst/>
          </a:prstGeom>
          <a:noFill/>
        </p:spPr>
        <p:txBody>
          <a:bodyPr wrap="none" rtlCol="0">
            <a:spAutoFit/>
          </a:bodyPr>
          <a:lstStyle/>
          <a:p>
            <a:r>
              <a:rPr lang="es-ES" dirty="0"/>
              <a:t>Se representa la parte TE ya que es la predominante.</a:t>
            </a:r>
          </a:p>
        </p:txBody>
      </p:sp>
    </p:spTree>
    <p:extLst>
      <p:ext uri="{BB962C8B-B14F-4D97-AF65-F5344CB8AC3E}">
        <p14:creationId xmlns:p14="http://schemas.microsoft.com/office/powerpoint/2010/main" val="392447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F2C04-8A69-13B3-5103-4C8FB72939FE}"/>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47B194AC-4E97-1E85-FFA4-9546806220C3}"/>
              </a:ext>
            </a:extLst>
          </p:cNvPr>
          <p:cNvSpPr>
            <a:spLocks noGrp="1"/>
          </p:cNvSpPr>
          <p:nvPr>
            <p:ph sz="half" idx="3"/>
          </p:nvPr>
        </p:nvSpPr>
        <p:spPr>
          <a:xfrm>
            <a:off x="6302880" y="1769340"/>
            <a:ext cx="5303520" cy="1661993"/>
          </a:xfrm>
        </p:spPr>
        <p:txBody>
          <a:bodyPr wrap="square" lIns="0" tIns="0" rIns="0" bIns="0" anchor="t">
            <a:spAutoFit/>
          </a:bodyPr>
          <a:lstStyle/>
          <a:p>
            <a:pPr algn="just"/>
            <a:endParaRPr lang="es-ES" b="1" dirty="0">
              <a:solidFill>
                <a:srgbClr val="000000"/>
              </a:solidFill>
              <a:latin typeface="Calibri"/>
              <a:ea typeface="Calibri"/>
              <a:cs typeface="Calibri"/>
            </a:endParaRPr>
          </a:p>
          <a:p>
            <a:pPr algn="just"/>
            <a:r>
              <a:rPr lang="es-ES" dirty="0"/>
              <a:t>En el cuarto modo prácticamente toda la luz queda fuera del </a:t>
            </a:r>
            <a:r>
              <a:rPr lang="es-ES" dirty="0" err="1"/>
              <a:t>núcelo</a:t>
            </a:r>
            <a:r>
              <a:rPr lang="es-ES" dirty="0"/>
              <a:t>, transportándose por la cubierta, lo que lo convierte en un modo no guiado. Lo cual tiene sentido ya que anteriormente se ha comprobado que su </a:t>
            </a:r>
            <a:r>
              <a:rPr lang="es-ES" dirty="0" err="1"/>
              <a:t>neff</a:t>
            </a:r>
            <a:r>
              <a:rPr lang="es-ES" dirty="0"/>
              <a:t> no está dentro del rango válido.</a:t>
            </a:r>
          </a:p>
        </p:txBody>
      </p:sp>
      <p:sp>
        <p:nvSpPr>
          <p:cNvPr id="5" name="Marcador de pie de página 4">
            <a:extLst>
              <a:ext uri="{FF2B5EF4-FFF2-40B4-BE49-F238E27FC236}">
                <a16:creationId xmlns:a16="http://schemas.microsoft.com/office/drawing/2014/main" id="{1999124E-404C-5D87-6DE2-8CCFA1902618}"/>
              </a:ext>
            </a:extLst>
          </p:cNvPr>
          <p:cNvSpPr>
            <a:spLocks noGrp="1"/>
          </p:cNvSpPr>
          <p:nvPr>
            <p:ph type="ftr" sz="quarter" idx="5"/>
          </p:nvPr>
        </p:nvSpPr>
        <p:spPr/>
        <p:txBody>
          <a:bodyPr/>
          <a:lstStyle/>
          <a:p>
            <a:pPr marL="12700">
              <a:lnSpc>
                <a:spcPct val="100000"/>
              </a:lnSpc>
              <a:spcBef>
                <a:spcPts val="15"/>
              </a:spcBef>
            </a:pPr>
            <a:r>
              <a:rPr lang="es-ES" spc="-5"/>
              <a:t>LAB 1.0 WAVEGUIDES</a:t>
            </a:r>
          </a:p>
        </p:txBody>
      </p:sp>
      <p:sp>
        <p:nvSpPr>
          <p:cNvPr id="6" name="Marcador de número de diapositiva 5">
            <a:extLst>
              <a:ext uri="{FF2B5EF4-FFF2-40B4-BE49-F238E27FC236}">
                <a16:creationId xmlns:a16="http://schemas.microsoft.com/office/drawing/2014/main" id="{523A725A-CFBE-7790-4897-2EFF29FA5829}"/>
              </a:ext>
            </a:extLst>
          </p:cNvPr>
          <p:cNvSpPr>
            <a:spLocks noGrp="1"/>
          </p:cNvSpPr>
          <p:nvPr>
            <p:ph type="sldNum" sz="quarter" idx="7"/>
          </p:nvPr>
        </p:nvSpPr>
        <p:spPr/>
        <p:txBody>
          <a:bodyPr/>
          <a:lstStyle/>
          <a:p>
            <a:fld id="{B6F15528-21DE-4FAA-801E-634DDDAF4B2B}" type="slidenum">
              <a:rPr lang="es-ES" smtClean="0"/>
              <a:t>15</a:t>
            </a:fld>
            <a:endParaRPr lang="es-ES"/>
          </a:p>
        </p:txBody>
      </p:sp>
      <p:pic>
        <p:nvPicPr>
          <p:cNvPr id="8" name="Marcador de contenido 7" descr="Gráfico, Histograma&#10;&#10;El contenido generado por IA puede ser incorrecto.">
            <a:extLst>
              <a:ext uri="{FF2B5EF4-FFF2-40B4-BE49-F238E27FC236}">
                <a16:creationId xmlns:a16="http://schemas.microsoft.com/office/drawing/2014/main" id="{E84EB040-233A-4693-10CB-CFA445DB8ADF}"/>
              </a:ext>
            </a:extLst>
          </p:cNvPr>
          <p:cNvPicPr>
            <a:picLocks noGrp="1" noChangeAspect="1"/>
          </p:cNvPicPr>
          <p:nvPr>
            <p:ph sz="half" idx="2"/>
          </p:nvPr>
        </p:nvPicPr>
        <p:blipFill>
          <a:blip r:embed="rId2"/>
          <a:stretch>
            <a:fillRect/>
          </a:stretch>
        </p:blipFill>
        <p:spPr>
          <a:xfrm>
            <a:off x="609600" y="2132265"/>
            <a:ext cx="5303838" cy="3417383"/>
          </a:xfrm>
          <a:prstGeom prst="rect">
            <a:avLst/>
          </a:prstGeom>
        </p:spPr>
      </p:pic>
      <p:sp>
        <p:nvSpPr>
          <p:cNvPr id="2" name="TextBox 1">
            <a:extLst>
              <a:ext uri="{FF2B5EF4-FFF2-40B4-BE49-F238E27FC236}">
                <a16:creationId xmlns:a16="http://schemas.microsoft.com/office/drawing/2014/main" id="{64127C48-978C-8CBC-0110-BCA39E4C15E1}"/>
              </a:ext>
            </a:extLst>
          </p:cNvPr>
          <p:cNvSpPr txBox="1"/>
          <p:nvPr/>
        </p:nvSpPr>
        <p:spPr>
          <a:xfrm>
            <a:off x="612000" y="1527000"/>
            <a:ext cx="1608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800" b="1" baseline="0">
                <a:latin typeface="Calibri"/>
              </a:rPr>
              <a:t>1.3.4. </a:t>
            </a:r>
            <a:r>
              <a:rPr lang="es-ES" sz="1800" b="1" baseline="0" err="1">
                <a:latin typeface="Calibri"/>
              </a:rPr>
              <a:t>Plots</a:t>
            </a:r>
            <a:endParaRPr lang="en-US" err="1"/>
          </a:p>
        </p:txBody>
      </p:sp>
      <p:sp>
        <p:nvSpPr>
          <p:cNvPr id="3" name="object 16">
            <a:extLst>
              <a:ext uri="{FF2B5EF4-FFF2-40B4-BE49-F238E27FC236}">
                <a16:creationId xmlns:a16="http://schemas.microsoft.com/office/drawing/2014/main" id="{10B6B6FC-714C-26A4-6AD7-16B3894C820F}"/>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b="1" dirty="0"/>
              <a:t>Learning outcome #1 – Effective index of a waveguide</a:t>
            </a:r>
            <a:br>
              <a:rPr lang="es-ES" sz="2500" spc="-5" dirty="0">
                <a:latin typeface="+mj-lt"/>
                <a:cs typeface="Lucida Sans"/>
              </a:rPr>
            </a:br>
            <a:endParaRPr sz="2500" b="0" dirty="0">
              <a:latin typeface="+mj-lt"/>
              <a:cs typeface="Lucida Sans"/>
            </a:endParaRPr>
          </a:p>
        </p:txBody>
      </p:sp>
      <p:sp>
        <p:nvSpPr>
          <p:cNvPr id="7" name="CuadroTexto 6">
            <a:extLst>
              <a:ext uri="{FF2B5EF4-FFF2-40B4-BE49-F238E27FC236}">
                <a16:creationId xmlns:a16="http://schemas.microsoft.com/office/drawing/2014/main" id="{D2BDBE71-A6DA-4EE7-754B-7BEC71DFE3CA}"/>
              </a:ext>
            </a:extLst>
          </p:cNvPr>
          <p:cNvSpPr txBox="1"/>
          <p:nvPr/>
        </p:nvSpPr>
        <p:spPr>
          <a:xfrm>
            <a:off x="6296880" y="4080387"/>
            <a:ext cx="5207964" cy="369332"/>
          </a:xfrm>
          <a:prstGeom prst="rect">
            <a:avLst/>
          </a:prstGeom>
          <a:noFill/>
        </p:spPr>
        <p:txBody>
          <a:bodyPr wrap="none" rtlCol="0">
            <a:spAutoFit/>
          </a:bodyPr>
          <a:lstStyle/>
          <a:p>
            <a:r>
              <a:rPr lang="es-ES" dirty="0"/>
              <a:t>Se representa la parte TM ya que es la predominante.</a:t>
            </a:r>
          </a:p>
        </p:txBody>
      </p:sp>
    </p:spTree>
    <p:extLst>
      <p:ext uri="{BB962C8B-B14F-4D97-AF65-F5344CB8AC3E}">
        <p14:creationId xmlns:p14="http://schemas.microsoft.com/office/powerpoint/2010/main" val="748974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#2 – Wavelength behavior</a:t>
            </a:r>
            <a:br>
              <a:rPr lang="es-ES" sz="2500" spc="-5">
                <a:latin typeface="+mj-lt"/>
                <a:cs typeface="Lucida Sans"/>
              </a:rPr>
            </a:br>
            <a:r>
              <a:rPr lang="en-US" b="0"/>
              <a:t>Wavelength 1.5-1.6 µm (step 0.01 µm) – width 1.2 µm</a:t>
            </a:r>
            <a:endParaRPr sz="2500" b="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1.0 WAVEGUIDES</a:t>
            </a: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125821"/>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Se </a:t>
                </a:r>
                <a:r>
                  <a:rPr lang="en-US" sz="1200" dirty="0" err="1">
                    <a:latin typeface="Arial" panose="020B0604020202020204" pitchFamily="34" charset="0"/>
                    <a:cs typeface="Arial" panose="020B0604020202020204" pitchFamily="34" charset="0"/>
                  </a:rPr>
                  <a:t>observa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conforme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aumenta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disminuyen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su</a:t>
                </a:r>
                <a:r>
                  <a:rPr lang="en-US" sz="1200" dirty="0">
                    <a:latin typeface="Arial" panose="020B0604020202020204" pitchFamily="34" charset="0"/>
                    <a:cs typeface="Arial" panose="020B0604020202020204" pitchFamily="34" charset="0"/>
                  </a:rPr>
                  <a:t> valor de </a:t>
                </a:r>
                <a:r>
                  <a:rPr lang="en-US" sz="1200" dirty="0" err="1">
                    <a:latin typeface="Arial" panose="020B0604020202020204" pitchFamily="34" charset="0"/>
                    <a:cs typeface="Arial" panose="020B0604020202020204" pitchFamily="34" charset="0"/>
                  </a:rPr>
                  <a:t>neff</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esto</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debido</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están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función</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inversa</a:t>
                </a:r>
                <a:r>
                  <a:rPr lang="en-US" sz="1200" dirty="0">
                    <a:latin typeface="Arial" panose="020B0604020202020204" pitchFamily="34" charset="0"/>
                    <a:cs typeface="Arial" panose="020B0604020202020204" pitchFamily="34" charset="0"/>
                  </a:rPr>
                  <a:t> de la longitude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14:m>
                  <m:oMath xmlns:m="http://schemas.openxmlformats.org/officeDocument/2006/math">
                    <m:r>
                      <a:rPr lang="es-ES" sz="1200" b="0" i="1" smtClean="0">
                        <a:latin typeface="Cambria Math" panose="02040503050406030204" pitchFamily="18" charset="0"/>
                        <a:cs typeface="Arial" panose="020B0604020202020204" pitchFamily="34" charset="0"/>
                      </a:rPr>
                      <m:t>𝑀</m:t>
                    </m:r>
                    <m:r>
                      <a:rPr lang="es-ES" sz="1200" b="0" i="1" smtClean="0">
                        <a:latin typeface="Cambria Math" panose="02040503050406030204" pitchFamily="18" charset="0"/>
                        <a:cs typeface="Arial" panose="020B0604020202020204" pitchFamily="34" charset="0"/>
                      </a:rPr>
                      <m:t>=</m:t>
                    </m:r>
                    <m:func>
                      <m:funcPr>
                        <m:ctrlPr>
                          <a:rPr lang="es-ES" sz="1200" b="0" i="1" smtClean="0">
                            <a:latin typeface="Cambria Math" panose="02040503050406030204" pitchFamily="18" charset="0"/>
                            <a:cs typeface="Arial" panose="020B0604020202020204" pitchFamily="34" charset="0"/>
                          </a:rPr>
                        </m:ctrlPr>
                      </m:funcPr>
                      <m:fName>
                        <m:r>
                          <m:rPr>
                            <m:sty m:val="p"/>
                          </m:rPr>
                          <a:rPr lang="es-ES" sz="1200" b="0" i="0" smtClean="0">
                            <a:latin typeface="Cambria Math" panose="02040503050406030204" pitchFamily="18" charset="0"/>
                            <a:cs typeface="Arial" panose="020B0604020202020204" pitchFamily="34" charset="0"/>
                          </a:rPr>
                          <m:t>sigt</m:t>
                        </m:r>
                      </m:fName>
                      <m:e>
                        <m:d>
                          <m:dPr>
                            <m:ctrlPr>
                              <a:rPr lang="es-ES" sz="1200" b="0" i="1" smtClean="0">
                                <a:latin typeface="Cambria Math" panose="02040503050406030204" pitchFamily="18" charset="0"/>
                                <a:cs typeface="Arial" panose="020B0604020202020204" pitchFamily="34" charset="0"/>
                              </a:rPr>
                            </m:ctrlPr>
                          </m:dPr>
                          <m:e>
                            <m:f>
                              <m:fPr>
                                <m:ctrlPr>
                                  <a:rPr lang="es-ES" sz="1200" b="0" i="1" smtClean="0">
                                    <a:latin typeface="Cambria Math" panose="02040503050406030204" pitchFamily="18" charset="0"/>
                                    <a:cs typeface="Arial" panose="020B0604020202020204" pitchFamily="34" charset="0"/>
                                  </a:rPr>
                                </m:ctrlPr>
                              </m:fPr>
                              <m:num>
                                <m:r>
                                  <a:rPr lang="es-ES" sz="1200" b="0" i="1" smtClean="0">
                                    <a:latin typeface="Cambria Math" panose="02040503050406030204" pitchFamily="18" charset="0"/>
                                    <a:cs typeface="Arial" panose="020B0604020202020204" pitchFamily="34" charset="0"/>
                                  </a:rPr>
                                  <m:t>2</m:t>
                                </m:r>
                                <m:r>
                                  <a:rPr lang="es-ES" sz="1200" b="0" i="1" smtClean="0">
                                    <a:latin typeface="Cambria Math" panose="02040503050406030204" pitchFamily="18" charset="0"/>
                                    <a:cs typeface="Arial" panose="020B0604020202020204" pitchFamily="34" charset="0"/>
                                  </a:rPr>
                                  <m:t>𝑑</m:t>
                                </m:r>
                              </m:num>
                              <m:den>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𝜆</m:t>
                                    </m:r>
                                  </m:e>
                                  <m:sub>
                                    <m:r>
                                      <a:rPr lang="es-ES" sz="1200" b="0" i="1" smtClean="0">
                                        <a:latin typeface="Cambria Math" panose="02040503050406030204" pitchFamily="18" charset="0"/>
                                        <a:cs typeface="Arial" panose="020B0604020202020204" pitchFamily="34" charset="0"/>
                                      </a:rPr>
                                      <m:t>0</m:t>
                                    </m:r>
                                  </m:sub>
                                </m:sSub>
                              </m:den>
                            </m:f>
                            <m:r>
                              <a:rPr lang="es-ES" sz="1200" b="0" i="1" smtClean="0">
                                <a:latin typeface="Cambria Math" panose="02040503050406030204" pitchFamily="18" charset="0"/>
                                <a:cs typeface="Arial" panose="020B0604020202020204" pitchFamily="34" charset="0"/>
                              </a:rPr>
                              <m:t>𝑁𝐴</m:t>
                            </m:r>
                          </m:e>
                        </m:d>
                      </m:e>
                    </m:func>
                  </m:oMath>
                </a14:m>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En ambas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orden</a:t>
                </a:r>
                <a:r>
                  <a:rPr lang="en-US" sz="1200" dirty="0">
                    <a:latin typeface="Arial" panose="020B0604020202020204" pitchFamily="34" charset="0"/>
                    <a:cs typeface="Arial" panose="020B0604020202020204" pitchFamily="34" charset="0"/>
                  </a:rPr>
                  <a:t> superior </a:t>
                </a:r>
                <a:r>
                  <a:rPr lang="en-US" sz="1200" dirty="0" err="1">
                    <a:latin typeface="Arial" panose="020B0604020202020204" pitchFamily="34" charset="0"/>
                    <a:cs typeface="Arial" panose="020B0604020202020204" pitchFamily="34" charset="0"/>
                  </a:rPr>
                  <a:t>muestran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bajos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están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menos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confinados</a:t>
                </a:r>
                <a:r>
                  <a:rPr lang="en-US" sz="1200" dirty="0">
                    <a:latin typeface="Arial" panose="020B0604020202020204" pitchFamily="34" charset="0"/>
                    <a:cs typeface="Arial" panose="020B0604020202020204" pitchFamily="34" charset="0"/>
                  </a:rPr>
                  <a:t>.</a:t>
                </a:r>
              </a:p>
              <a:p>
                <a:pPr algn="just"/>
                <a:r>
                  <a:rPr lang="en-US" sz="1200" dirty="0">
                    <a:latin typeface="Arial" panose="020B0604020202020204" pitchFamily="34" charset="0"/>
                    <a:cs typeface="Arial" panose="020B0604020202020204" pitchFamily="34" charset="0"/>
                  </a:rPr>
                  <a:t>Como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tipo</a:t>
                </a:r>
                <a:r>
                  <a:rPr lang="en-US" sz="1200" dirty="0">
                    <a:latin typeface="Arial" panose="020B0604020202020204" pitchFamily="34" charset="0"/>
                    <a:cs typeface="Arial" panose="020B0604020202020204" pitchFamily="34" charset="0"/>
                  </a:rPr>
                  <a:t> shallow </a:t>
                </a:r>
                <a:r>
                  <a:rPr lang="en-US" sz="1200" dirty="0" err="1">
                    <a:latin typeface="Arial" panose="020B0604020202020204" pitchFamily="34" charset="0"/>
                    <a:cs typeface="Arial" panose="020B0604020202020204" pitchFamily="34" charset="0"/>
                  </a:rPr>
                  <a:t>tienen</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excavado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menos</a:t>
                </a:r>
                <a:r>
                  <a:rPr lang="en-US" sz="1200" dirty="0">
                    <a:latin typeface="Arial" panose="020B0604020202020204" pitchFamily="34" charset="0"/>
                    <a:cs typeface="Arial" panose="020B0604020202020204" pitchFamily="34" charset="0"/>
                  </a:rPr>
                  <a:t> profundo, </a:t>
                </a:r>
                <a:r>
                  <a:rPr lang="en-US" sz="1200" dirty="0" err="1">
                    <a:latin typeface="Arial" panose="020B0604020202020204" pitchFamily="34" charset="0"/>
                    <a:cs typeface="Arial" panose="020B0604020202020204" pitchFamily="34" charset="0"/>
                  </a:rPr>
                  <a:t>queda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silicio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debajo</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grabado</a:t>
                </a:r>
                <a:r>
                  <a:rPr lang="en-US" sz="1200" dirty="0">
                    <a:latin typeface="Arial" panose="020B0604020202020204" pitchFamily="34" charset="0"/>
                    <a:cs typeface="Arial" panose="020B0604020202020204" pitchFamily="34" charset="0"/>
                  </a:rPr>
                  <a:t>, lo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impide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extiendan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hacia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SiO2, </a:t>
                </a:r>
                <a:r>
                  <a:rPr lang="en-US" sz="1200" dirty="0" err="1">
                    <a:latin typeface="Arial" panose="020B0604020202020204" pitchFamily="34" charset="0"/>
                    <a:cs typeface="Arial" panose="020B0604020202020204" pitchFamily="34" charset="0"/>
                  </a:rPr>
                  <a:t>provocando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estén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elevados</a:t>
                </a:r>
                <a:r>
                  <a:rPr lang="en-US" sz="1200" dirty="0">
                    <a:latin typeface="Arial" panose="020B0604020202020204" pitchFamily="34" charset="0"/>
                    <a:cs typeface="Arial" panose="020B0604020202020204" pitchFamily="34" charset="0"/>
                  </a:rPr>
                  <a:t>, lo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facilita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cumplan</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sean</a:t>
                </a:r>
                <a:r>
                  <a:rPr lang="en-US" sz="1200" dirty="0">
                    <a:latin typeface="Arial" panose="020B0604020202020204" pitchFamily="34" charset="0"/>
                    <a:cs typeface="Arial" panose="020B0604020202020204" pitchFamily="34" charset="0"/>
                  </a:rPr>
                  <a:t> mayor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cubierta</a:t>
                </a:r>
                <a:r>
                  <a:rPr lang="en-US" sz="1200" dirty="0">
                    <a:latin typeface="Arial" panose="020B0604020202020204" pitchFamily="34" charset="0"/>
                    <a:cs typeface="Arial" panose="020B0604020202020204" pitchFamily="34" charset="0"/>
                  </a:rPr>
                  <a:t>.</a:t>
                </a:r>
              </a:p>
            </p:txBody>
          </p:sp>
        </mc:Choice>
        <mc:Fallback xmlns="">
          <p:sp>
            <p:nvSpPr>
              <p:cNvPr id="2" name="CuadroTexto 1">
                <a:extLst>
                  <a:ext uri="{FF2B5EF4-FFF2-40B4-BE49-F238E27FC236}">
                    <a16:creationId xmlns:a16="http://schemas.microsoft.com/office/drawing/2014/main" id="{CA5F0FDF-2A95-453B-4ECA-AEB637FF2694}"/>
                  </a:ext>
                </a:extLst>
              </p:cNvPr>
              <p:cNvSpPr txBox="1">
                <a:spLocks noRot="1" noChangeAspect="1" noMove="1" noResize="1" noEditPoints="1" noAdjustHandles="1" noChangeArrowheads="1" noChangeShapeType="1" noTextEdit="1"/>
              </p:cNvSpPr>
              <p:nvPr/>
            </p:nvSpPr>
            <p:spPr>
              <a:xfrm>
                <a:off x="609441" y="4860334"/>
                <a:ext cx="11199971" cy="1125821"/>
              </a:xfrm>
              <a:prstGeom prst="rect">
                <a:avLst/>
              </a:prstGeom>
              <a:blipFill>
                <a:blip r:embed="rId5"/>
                <a:stretch>
                  <a:fillRect b="-1053"/>
                </a:stretch>
              </a:blipFill>
              <a:ln w="28575">
                <a:solidFill>
                  <a:srgbClr val="E0700D"/>
                </a:solidFill>
              </a:ln>
            </p:spPr>
            <p:txBody>
              <a:bodyPr/>
              <a:lstStyle/>
              <a:p>
                <a:r>
                  <a:rPr lang="es-ES">
                    <a:noFill/>
                  </a:rPr>
                  <a:t> </a:t>
                </a:r>
              </a:p>
            </p:txBody>
          </p:sp>
        </mc:Fallback>
      </mc:AlternateContent>
      <p:sp>
        <p:nvSpPr>
          <p:cNvPr id="5" name="Rectángulo 4">
            <a:extLst>
              <a:ext uri="{FF2B5EF4-FFF2-40B4-BE49-F238E27FC236}">
                <a16:creationId xmlns:a16="http://schemas.microsoft.com/office/drawing/2014/main" id="{88F19863-7091-B8CA-F848-DBEA5CEEA027}"/>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3C4E7A47-20E2-3C27-D841-5A665642F6E2}"/>
              </a:ext>
            </a:extLst>
          </p:cNvPr>
          <p:cNvSpPr txBox="1"/>
          <p:nvPr/>
        </p:nvSpPr>
        <p:spPr>
          <a:xfrm>
            <a:off x="2285455" y="2671278"/>
            <a:ext cx="1980542" cy="923330"/>
          </a:xfrm>
          <a:prstGeom prst="rect">
            <a:avLst/>
          </a:prstGeom>
          <a:noFill/>
        </p:spPr>
        <p:txBody>
          <a:bodyPr wrap="none" rtlCol="0">
            <a:spAutoFit/>
          </a:bodyPr>
          <a:lstStyle/>
          <a:p>
            <a:pPr algn="ctr"/>
            <a:r>
              <a:rPr lang="en-US" b="1"/>
              <a:t>shallow</a:t>
            </a:r>
            <a:r>
              <a:rPr lang="en-US"/>
              <a:t> waveguide</a:t>
            </a:r>
          </a:p>
          <a:p>
            <a:pPr algn="ctr"/>
            <a:endParaRPr lang="en-US"/>
          </a:p>
          <a:p>
            <a:pPr algn="ctr"/>
            <a:r>
              <a:rPr lang="en-US"/>
              <a:t>Paste plot here</a:t>
            </a:r>
          </a:p>
        </p:txBody>
      </p:sp>
      <p:sp>
        <p:nvSpPr>
          <p:cNvPr id="7" name="Rectángulo 6">
            <a:extLst>
              <a:ext uri="{FF2B5EF4-FFF2-40B4-BE49-F238E27FC236}">
                <a16:creationId xmlns:a16="http://schemas.microsoft.com/office/drawing/2014/main" id="{21F754A5-65BC-14A3-5F55-75716FFA9027}"/>
              </a:ext>
            </a:extLst>
          </p:cNvPr>
          <p:cNvSpPr/>
          <p:nvPr/>
        </p:nvSpPr>
        <p:spPr>
          <a:xfrm>
            <a:off x="64768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8281672" y="2671278"/>
            <a:ext cx="1722908" cy="923330"/>
          </a:xfrm>
          <a:prstGeom prst="rect">
            <a:avLst/>
          </a:prstGeom>
          <a:noFill/>
        </p:spPr>
        <p:txBody>
          <a:bodyPr wrap="none" rtlCol="0">
            <a:spAutoFit/>
          </a:bodyPr>
          <a:lstStyle/>
          <a:p>
            <a:pPr algn="ctr"/>
            <a:r>
              <a:rPr lang="en-US" b="1"/>
              <a:t>deep</a:t>
            </a:r>
            <a:r>
              <a:rPr lang="en-US"/>
              <a:t> waveguide</a:t>
            </a:r>
          </a:p>
          <a:p>
            <a:pPr algn="ctr"/>
            <a:endParaRPr lang="en-US"/>
          </a:p>
          <a:p>
            <a:pPr algn="ctr"/>
            <a:r>
              <a:rPr lang="en-US"/>
              <a:t>Paste plot here</a:t>
            </a:r>
          </a:p>
        </p:txBody>
      </p:sp>
      <p:pic>
        <p:nvPicPr>
          <p:cNvPr id="9" name="Imagen 8" descr="Gráfico, Gráfico de líneas&#10;&#10;El contenido generado por IA puede ser incorrecto.">
            <a:extLst>
              <a:ext uri="{FF2B5EF4-FFF2-40B4-BE49-F238E27FC236}">
                <a16:creationId xmlns:a16="http://schemas.microsoft.com/office/drawing/2014/main" id="{B94F10AD-D639-0D3A-B4C9-178300BBE21A}"/>
              </a:ext>
            </a:extLst>
          </p:cNvPr>
          <p:cNvPicPr>
            <a:picLocks noChangeAspect="1"/>
          </p:cNvPicPr>
          <p:nvPr/>
        </p:nvPicPr>
        <p:blipFill>
          <a:blip r:embed="rId6"/>
          <a:stretch>
            <a:fillRect/>
          </a:stretch>
        </p:blipFill>
        <p:spPr>
          <a:xfrm>
            <a:off x="6534314" y="1547989"/>
            <a:ext cx="5217624" cy="3043614"/>
          </a:xfrm>
          <a:prstGeom prst="rect">
            <a:avLst/>
          </a:prstGeom>
        </p:spPr>
      </p:pic>
      <p:pic>
        <p:nvPicPr>
          <p:cNvPr id="13" name="Imagen 12" descr="Gráfico, Gráfico de líneas&#10;&#10;El contenido generado por IA puede ser incorrecto.">
            <a:extLst>
              <a:ext uri="{FF2B5EF4-FFF2-40B4-BE49-F238E27FC236}">
                <a16:creationId xmlns:a16="http://schemas.microsoft.com/office/drawing/2014/main" id="{B3938856-ED39-4849-AAA4-ADEEC7EDD25F}"/>
              </a:ext>
            </a:extLst>
          </p:cNvPr>
          <p:cNvPicPr>
            <a:picLocks noChangeAspect="1"/>
          </p:cNvPicPr>
          <p:nvPr/>
        </p:nvPicPr>
        <p:blipFill>
          <a:blip r:embed="rId7"/>
          <a:stretch>
            <a:fillRect/>
          </a:stretch>
        </p:blipFill>
        <p:spPr>
          <a:xfrm>
            <a:off x="703786" y="1526400"/>
            <a:ext cx="5138307" cy="2997346"/>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#3 – Width dependence</a:t>
            </a:r>
            <a:br>
              <a:rPr lang="es-ES" sz="2500" spc="-5">
                <a:latin typeface="+mj-lt"/>
                <a:cs typeface="Lucida Sans"/>
              </a:rPr>
            </a:br>
            <a:r>
              <a:rPr lang="en-US" b="0"/>
              <a:t>Width 0.6 - 1.6 µm (step 0.1 µm) – Wavelength 1.55 µm </a:t>
            </a:r>
            <a:endParaRPr sz="2500" b="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73006" y="6368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11029" y="4876800"/>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Al </a:t>
            </a:r>
            <a:r>
              <a:rPr lang="en-US" sz="1200" dirty="0" err="1">
                <a:latin typeface="Arial" panose="020B0604020202020204" pitchFamily="34" charset="0"/>
                <a:cs typeface="Arial" panose="020B0604020202020204" pitchFamily="34" charset="0"/>
              </a:rPr>
              <a:t>aumentar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ancho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confinamiento</a:t>
            </a:r>
            <a:r>
              <a:rPr lang="en-US" sz="1200" dirty="0">
                <a:latin typeface="Arial" panose="020B0604020202020204" pitchFamily="34" charset="0"/>
                <a:cs typeface="Arial" panose="020B0604020202020204" pitchFamily="34" charset="0"/>
              </a:rPr>
              <a:t> lateral </a:t>
            </a:r>
            <a:r>
              <a:rPr lang="en-US" sz="1200" dirty="0" err="1">
                <a:latin typeface="Arial" panose="020B0604020202020204" pitchFamily="34" charset="0"/>
                <a:cs typeface="Arial" panose="020B0604020202020204" pitchFamily="34" charset="0"/>
              </a:rPr>
              <a:t>mejora</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crece</a:t>
            </a:r>
            <a:r>
              <a:rPr lang="en-US" sz="1200" dirty="0">
                <a:latin typeface="Arial" panose="020B0604020202020204" pitchFamily="34" charset="0"/>
                <a:cs typeface="Arial" panose="020B0604020202020204" pitchFamily="34" charset="0"/>
              </a:rPr>
              <a:t>. Los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superiores</a:t>
            </a:r>
            <a:r>
              <a:rPr lang="en-US" sz="1200" dirty="0">
                <a:latin typeface="Arial" panose="020B0604020202020204" pitchFamily="34" charset="0"/>
                <a:cs typeface="Arial" panose="020B0604020202020204" pitchFamily="34" charset="0"/>
              </a:rPr>
              <a:t> (2 y 3) solo </a:t>
            </a:r>
            <a:r>
              <a:rPr lang="en-US" sz="1200" dirty="0" err="1">
                <a:latin typeface="Arial" panose="020B0604020202020204" pitchFamily="34" charset="0"/>
                <a:cs typeface="Arial" panose="020B0604020202020204" pitchFamily="34" charset="0"/>
              </a:rPr>
              <a:t>aparecen</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partir</a:t>
            </a:r>
            <a:r>
              <a:rPr lang="en-US" sz="1200" dirty="0">
                <a:latin typeface="Arial" panose="020B0604020202020204" pitchFamily="34" charset="0"/>
                <a:cs typeface="Arial" panose="020B0604020202020204" pitchFamily="34" charset="0"/>
              </a:rPr>
              <a:t> de un ancho </a:t>
            </a:r>
            <a:r>
              <a:rPr lang="en-US" sz="1200" dirty="0" err="1">
                <a:latin typeface="Arial" panose="020B0604020202020204" pitchFamily="34" charset="0"/>
                <a:cs typeface="Arial" panose="020B0604020202020204" pitchFamily="34" charset="0"/>
              </a:rPr>
              <a:t>mínimo</a:t>
            </a:r>
            <a:r>
              <a:rPr lang="en-US" sz="1200" dirty="0">
                <a:latin typeface="Arial" panose="020B0604020202020204" pitchFamily="34" charset="0"/>
                <a:cs typeface="Arial" panose="020B0604020202020204" pitchFamily="34" charset="0"/>
              </a:rPr>
              <a:t> (1.3um y 1.6um </a:t>
            </a:r>
            <a:r>
              <a:rPr lang="en-US" sz="1200" dirty="0" err="1">
                <a:latin typeface="Arial" panose="020B0604020202020204" pitchFamily="34" charset="0"/>
                <a:cs typeface="Arial" panose="020B0604020202020204" pitchFamily="34" charset="0"/>
              </a:rPr>
              <a:t>respectivamente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debajo</a:t>
            </a:r>
            <a:r>
              <a:rPr lang="en-US" sz="1200" dirty="0">
                <a:latin typeface="Arial" panose="020B0604020202020204" pitchFamily="34" charset="0"/>
                <a:cs typeface="Arial" panose="020B0604020202020204" pitchFamily="34" charset="0"/>
              </a:rPr>
              <a:t> de ese valor </a:t>
            </a:r>
            <a:r>
              <a:rPr lang="en-US" sz="1200" dirty="0" err="1">
                <a:latin typeface="Arial" panose="020B0604020202020204" pitchFamily="34" charset="0"/>
                <a:cs typeface="Arial" panose="020B0604020202020204" pitchFamily="34" charset="0"/>
              </a:rPr>
              <a:t>su</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neff</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aproxima</a:t>
            </a:r>
            <a:r>
              <a:rPr lang="en-US" sz="1200" dirty="0">
                <a:latin typeface="Arial" panose="020B0604020202020204" pitchFamily="34" charset="0"/>
                <a:cs typeface="Arial" panose="020B0604020202020204" pitchFamily="34" charset="0"/>
              </a:rPr>
              <a:t> al del SiO2 y </a:t>
            </a:r>
            <a:r>
              <a:rPr lang="en-US" sz="1200" dirty="0" err="1">
                <a:latin typeface="Arial" panose="020B0604020202020204" pitchFamily="34" charset="0"/>
                <a:cs typeface="Arial" panose="020B0604020202020204" pitchFamily="34" charset="0"/>
              </a:rPr>
              <a:t>dejan</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estar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guiados</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El modo fundamental y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pares </a:t>
            </a:r>
            <a:r>
              <a:rPr lang="en-US" sz="1200" dirty="0" err="1">
                <a:latin typeface="Arial" panose="020B0604020202020204" pitchFamily="34" charset="0"/>
                <a:cs typeface="Arial" panose="020B0604020202020204" pitchFamily="34" charset="0"/>
              </a:rPr>
              <a:t>presentan</a:t>
            </a:r>
            <a:r>
              <a:rPr lang="en-US" sz="1200" dirty="0">
                <a:latin typeface="Arial" panose="020B0604020202020204" pitchFamily="34" charset="0"/>
                <a:cs typeface="Arial" panose="020B0604020202020204" pitchFamily="34" charset="0"/>
              </a:rPr>
              <a:t> mayor TE </a:t>
            </a:r>
            <a:r>
              <a:rPr lang="en-US" sz="1200" dirty="0" err="1">
                <a:latin typeface="Arial" panose="020B0604020202020204" pitchFamily="34" charset="0"/>
                <a:cs typeface="Arial" panose="020B0604020202020204" pitchFamily="34" charset="0"/>
              </a:rPr>
              <a:t>porque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confinamiento</a:t>
            </a:r>
            <a:r>
              <a:rPr lang="en-US" sz="1200" dirty="0">
                <a:latin typeface="Arial" panose="020B0604020202020204" pitchFamily="34" charset="0"/>
                <a:cs typeface="Arial" panose="020B0604020202020204" pitchFamily="34" charset="0"/>
              </a:rPr>
              <a:t> lateral </a:t>
            </a:r>
            <a:r>
              <a:rPr lang="en-US" sz="1200" dirty="0" err="1">
                <a:latin typeface="Arial" panose="020B0604020202020204" pitchFamily="34" charset="0"/>
                <a:cs typeface="Arial" panose="020B0604020202020204" pitchFamily="34" charset="0"/>
              </a:rPr>
              <a:t>aumenta</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ancho y </a:t>
            </a:r>
            <a:r>
              <a:rPr lang="en-US" sz="1200" dirty="0" err="1">
                <a:latin typeface="Arial" panose="020B0604020202020204" pitchFamily="34" charset="0"/>
                <a:cs typeface="Arial" panose="020B0604020202020204" pitchFamily="34" charset="0"/>
              </a:rPr>
              <a:t>favorece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componente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eléctrica</a:t>
            </a:r>
            <a:r>
              <a:rPr lang="en-US" sz="1200" dirty="0">
                <a:latin typeface="Arial" panose="020B0604020202020204" pitchFamily="34" charset="0"/>
                <a:cs typeface="Arial" panose="020B0604020202020204" pitchFamily="34" charset="0"/>
              </a:rPr>
              <a:t> horizontal. En </a:t>
            </a:r>
            <a:r>
              <a:rPr lang="en-US" sz="1200" dirty="0" err="1">
                <a:latin typeface="Arial" panose="020B0604020202020204" pitchFamily="34" charset="0"/>
                <a:cs typeface="Arial" panose="020B0604020202020204" pitchFamily="34" charset="0"/>
              </a:rPr>
              <a:t>cambio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impares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mantienen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distribución</a:t>
            </a:r>
            <a:r>
              <a:rPr lang="en-US" sz="1200" dirty="0">
                <a:latin typeface="Arial" panose="020B0604020202020204" pitchFamily="34" charset="0"/>
                <a:cs typeface="Arial" panose="020B0604020202020204" pitchFamily="34" charset="0"/>
              </a:rPr>
              <a:t> de campo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favorece</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componente</a:t>
            </a:r>
            <a:r>
              <a:rPr lang="en-US" sz="1200" dirty="0">
                <a:latin typeface="Arial" panose="020B0604020202020204" pitchFamily="34" charset="0"/>
                <a:cs typeface="Arial" panose="020B0604020202020204" pitchFamily="34" charset="0"/>
              </a:rPr>
              <a:t> vertical,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lo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siguen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siendo</a:t>
            </a:r>
            <a:r>
              <a:rPr lang="en-US" sz="1200" dirty="0">
                <a:latin typeface="Arial" panose="020B0604020202020204" pitchFamily="34" charset="0"/>
                <a:cs typeface="Arial" panose="020B0604020202020204" pitchFamily="34" charset="0"/>
              </a:rPr>
              <a:t> TM </a:t>
            </a:r>
            <a:r>
              <a:rPr lang="en-US" sz="1200" dirty="0" err="1">
                <a:latin typeface="Arial" panose="020B0604020202020204" pitchFamily="34" charset="0"/>
                <a:cs typeface="Arial" panose="020B0604020202020204" pitchFamily="34" charset="0"/>
              </a:rPr>
              <a:t>aunque</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ancha</a:t>
            </a:r>
            <a:r>
              <a:rPr lang="en-US" sz="1200" dirty="0">
                <a:latin typeface="Arial" panose="020B0604020202020204" pitchFamily="34" charset="0"/>
                <a:cs typeface="Arial" panose="020B0604020202020204" pitchFamily="34" charset="0"/>
              </a:rPr>
              <a:t>.</a:t>
            </a: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7718580"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plot here</a:t>
            </a:r>
          </a:p>
        </p:txBody>
      </p:sp>
      <p:pic>
        <p:nvPicPr>
          <p:cNvPr id="5" name="Imagen 4" descr="Gráfico, Gráfico de líneas&#10;&#10;El contenido generado por IA puede ser incorrecto.">
            <a:extLst>
              <a:ext uri="{FF2B5EF4-FFF2-40B4-BE49-F238E27FC236}">
                <a16:creationId xmlns:a16="http://schemas.microsoft.com/office/drawing/2014/main" id="{3588160C-01AA-4FFF-7613-030081A2E64F}"/>
              </a:ext>
            </a:extLst>
          </p:cNvPr>
          <p:cNvPicPr>
            <a:picLocks noChangeAspect="1"/>
          </p:cNvPicPr>
          <p:nvPr/>
        </p:nvPicPr>
        <p:blipFill>
          <a:blip r:embed="rId5"/>
          <a:stretch>
            <a:fillRect/>
          </a:stretch>
        </p:blipFill>
        <p:spPr>
          <a:xfrm>
            <a:off x="3205943" y="1639560"/>
            <a:ext cx="5780113" cy="2983653"/>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w=1.2um   - </a:t>
            </a:r>
            <a:r>
              <a:rPr lang="en-US" dirty="0"/>
              <a:t>Shallow</a:t>
            </a:r>
            <a:r>
              <a:rPr lang="en-US" b="0" dirty="0"/>
              <a:t> waveguide, core h=300nm, slab h=150 nm, w = 1.2um </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A440F587-93A3-E474-C0B0-883BB9DAFD85}"/>
              </a:ext>
            </a:extLst>
          </p:cNvPr>
          <p:cNvSpPr txBox="1"/>
          <p:nvPr/>
        </p:nvSpPr>
        <p:spPr>
          <a:xfrm>
            <a:off x="609441" y="4860334"/>
            <a:ext cx="11198542" cy="646331"/>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Se puede comprobar que se ha realizado de forma correcta, ya que ambas gráficas coinciden con las obtenidas en el apartado Lab02.</a:t>
            </a:r>
          </a:p>
          <a:p>
            <a:pPr algn="just"/>
            <a:r>
              <a:rPr lang="es-ES" sz="1200" dirty="0">
                <a:latin typeface="Arial" panose="020B0604020202020204" pitchFamily="34" charset="0"/>
                <a:cs typeface="Arial" panose="020B0604020202020204" pitchFamily="34" charset="0"/>
              </a:rPr>
              <a:t>Además, se han conseguido los siguientes datos (continua):</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A6B92C76-6772-2E00-346F-532321092C0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2886628E-6E58-1F7E-B6C6-432B9A22839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descr="Gráfico, Gráfico de líneas&#10;&#10;El contenido generado por IA puede ser incorrecto.">
            <a:extLst>
              <a:ext uri="{FF2B5EF4-FFF2-40B4-BE49-F238E27FC236}">
                <a16:creationId xmlns:a16="http://schemas.microsoft.com/office/drawing/2014/main" id="{FBE535C1-EA2E-B405-E791-B23A292F0A9D}"/>
              </a:ext>
            </a:extLst>
          </p:cNvPr>
          <p:cNvPicPr>
            <a:picLocks noChangeAspect="1"/>
          </p:cNvPicPr>
          <p:nvPr/>
        </p:nvPicPr>
        <p:blipFill>
          <a:blip r:embed="rId5"/>
          <a:stretch>
            <a:fillRect/>
          </a:stretch>
        </p:blipFill>
        <p:spPr>
          <a:xfrm>
            <a:off x="1125614" y="1557990"/>
            <a:ext cx="4724580" cy="3172218"/>
          </a:xfrm>
          <a:prstGeom prst="rect">
            <a:avLst/>
          </a:prstGeom>
        </p:spPr>
      </p:pic>
      <p:pic>
        <p:nvPicPr>
          <p:cNvPr id="12" name="Imagen 11" descr="Gráfico, Gráfico de líneas&#10;&#10;El contenido generado por IA puede ser incorrecto.">
            <a:extLst>
              <a:ext uri="{FF2B5EF4-FFF2-40B4-BE49-F238E27FC236}">
                <a16:creationId xmlns:a16="http://schemas.microsoft.com/office/drawing/2014/main" id="{2D21E63D-F105-7B70-08A9-EC789DA9CB3A}"/>
              </a:ext>
            </a:extLst>
          </p:cNvPr>
          <p:cNvPicPr>
            <a:picLocks noChangeAspect="1"/>
          </p:cNvPicPr>
          <p:nvPr/>
        </p:nvPicPr>
        <p:blipFill>
          <a:blip r:embed="rId6"/>
          <a:stretch>
            <a:fillRect/>
          </a:stretch>
        </p:blipFill>
        <p:spPr>
          <a:xfrm>
            <a:off x="6744316" y="1565364"/>
            <a:ext cx="4607205" cy="3093409"/>
          </a:xfrm>
          <a:prstGeom prst="rect">
            <a:avLst/>
          </a:prstGeom>
        </p:spPr>
      </p:pic>
    </p:spTree>
    <p:extLst>
      <p:ext uri="{BB962C8B-B14F-4D97-AF65-F5344CB8AC3E}">
        <p14:creationId xmlns:p14="http://schemas.microsoft.com/office/powerpoint/2010/main" val="236054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5B5FD81-DA74-DAAA-E2F0-8CF474A0AD93}"/>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CuadroTexto 2">
            <a:extLst>
              <a:ext uri="{FF2B5EF4-FFF2-40B4-BE49-F238E27FC236}">
                <a16:creationId xmlns:a16="http://schemas.microsoft.com/office/drawing/2014/main" id="{32324673-7A2E-FC35-4274-66A41D9745C1}"/>
              </a:ext>
            </a:extLst>
          </p:cNvPr>
          <p:cNvSpPr txBox="1"/>
          <p:nvPr/>
        </p:nvSpPr>
        <p:spPr>
          <a:xfrm>
            <a:off x="1101213" y="570271"/>
            <a:ext cx="727587" cy="369332"/>
          </a:xfrm>
          <a:prstGeom prst="rect">
            <a:avLst/>
          </a:prstGeom>
          <a:noFill/>
        </p:spPr>
        <p:txBody>
          <a:bodyPr wrap="square" rtlCol="0">
            <a:spAutoFit/>
          </a:bodyPr>
          <a:lstStyle/>
          <a:p>
            <a:r>
              <a:rPr lang="es-ES"/>
              <a:t>Deep</a:t>
            </a:r>
          </a:p>
        </p:txBody>
      </p:sp>
      <p:sp>
        <p:nvSpPr>
          <p:cNvPr id="8" name="CuadroTexto 7">
            <a:extLst>
              <a:ext uri="{FF2B5EF4-FFF2-40B4-BE49-F238E27FC236}">
                <a16:creationId xmlns:a16="http://schemas.microsoft.com/office/drawing/2014/main" id="{66178840-5269-2CE0-830C-46F4017EB058}"/>
              </a:ext>
            </a:extLst>
          </p:cNvPr>
          <p:cNvSpPr txBox="1"/>
          <p:nvPr/>
        </p:nvSpPr>
        <p:spPr>
          <a:xfrm>
            <a:off x="786581" y="2359742"/>
            <a:ext cx="4267200" cy="2062103"/>
          </a:xfrm>
          <a:prstGeom prst="rect">
            <a:avLst/>
          </a:prstGeom>
          <a:noFill/>
        </p:spPr>
        <p:txBody>
          <a:bodyPr wrap="square" lIns="91440" tIns="45720" rIns="91440" bIns="45720" rtlCol="0" anchor="t">
            <a:spAutoFit/>
          </a:bodyPr>
          <a:lstStyle/>
          <a:p>
            <a:pPr algn="just"/>
            <a:r>
              <a:rPr lang="es-ES" sz="1600" dirty="0"/>
              <a:t>De forma obvia, el valor de n1 corresponde al valor calculado en apartados anteriores.</a:t>
            </a:r>
          </a:p>
          <a:p>
            <a:pPr algn="just"/>
            <a:endParaRPr lang="es-ES" sz="1600" dirty="0"/>
          </a:p>
          <a:p>
            <a:pPr algn="just"/>
            <a:r>
              <a:rPr lang="es-ES" sz="1600" dirty="0"/>
              <a:t>Respecto a la velocidad de grupo sale limitada entre los valores de núcleo y cubierta [1.44, 2].</a:t>
            </a:r>
            <a:endParaRPr lang="es-ES" sz="1600" dirty="0">
              <a:ea typeface="Calibri"/>
              <a:cs typeface="Calibri"/>
            </a:endParaRPr>
          </a:p>
          <a:p>
            <a:pPr algn="just"/>
            <a:endParaRPr lang="es-ES" sz="1600" dirty="0"/>
          </a:p>
          <a:p>
            <a:pPr algn="just"/>
            <a:r>
              <a:rPr lang="es-ES" sz="1600" dirty="0"/>
              <a:t>La dispersión obtiene un valor lógico medido para este tipo de guías en </a:t>
            </a:r>
            <a:r>
              <a:rPr lang="es-ES" sz="1600" dirty="0" err="1"/>
              <a:t>ps</a:t>
            </a:r>
            <a:r>
              <a:rPr lang="es-ES" sz="1600" dirty="0"/>
              <a:t>/(nm*km)</a:t>
            </a:r>
          </a:p>
        </p:txBody>
      </p:sp>
      <p:sp>
        <p:nvSpPr>
          <p:cNvPr id="9" name="CuadroTexto 8">
            <a:extLst>
              <a:ext uri="{FF2B5EF4-FFF2-40B4-BE49-F238E27FC236}">
                <a16:creationId xmlns:a16="http://schemas.microsoft.com/office/drawing/2014/main" id="{29484A5C-3D96-5358-C4A4-DA61677CB619}"/>
              </a:ext>
            </a:extLst>
          </p:cNvPr>
          <p:cNvSpPr txBox="1"/>
          <p:nvPr/>
        </p:nvSpPr>
        <p:spPr>
          <a:xfrm>
            <a:off x="7592475" y="570271"/>
            <a:ext cx="1050080" cy="369332"/>
          </a:xfrm>
          <a:prstGeom prst="rect">
            <a:avLst/>
          </a:prstGeom>
          <a:noFill/>
        </p:spPr>
        <p:txBody>
          <a:bodyPr wrap="square" rtlCol="0">
            <a:spAutoFit/>
          </a:bodyPr>
          <a:lstStyle/>
          <a:p>
            <a:r>
              <a:rPr lang="es-ES" err="1"/>
              <a:t>Shallow</a:t>
            </a:r>
            <a:endParaRPr lang="es-ES"/>
          </a:p>
        </p:txBody>
      </p:sp>
      <p:pic>
        <p:nvPicPr>
          <p:cNvPr id="7" name="Imagen 6">
            <a:extLst>
              <a:ext uri="{FF2B5EF4-FFF2-40B4-BE49-F238E27FC236}">
                <a16:creationId xmlns:a16="http://schemas.microsoft.com/office/drawing/2014/main" id="{2CD6CA8A-F1B8-2DB4-A5C3-FB2A0AFB93A7}"/>
              </a:ext>
            </a:extLst>
          </p:cNvPr>
          <p:cNvPicPr>
            <a:picLocks noChangeAspect="1"/>
          </p:cNvPicPr>
          <p:nvPr/>
        </p:nvPicPr>
        <p:blipFill>
          <a:blip r:embed="rId2"/>
          <a:srcRect b="3305"/>
          <a:stretch>
            <a:fillRect/>
          </a:stretch>
        </p:blipFill>
        <p:spPr>
          <a:xfrm>
            <a:off x="1260501" y="1188622"/>
            <a:ext cx="2690093" cy="891617"/>
          </a:xfrm>
          <a:prstGeom prst="rect">
            <a:avLst/>
          </a:prstGeom>
        </p:spPr>
      </p:pic>
      <p:pic>
        <p:nvPicPr>
          <p:cNvPr id="12" name="Imagen 11">
            <a:extLst>
              <a:ext uri="{FF2B5EF4-FFF2-40B4-BE49-F238E27FC236}">
                <a16:creationId xmlns:a16="http://schemas.microsoft.com/office/drawing/2014/main" id="{142CF54C-4D59-58E2-5DAD-FFFBC7100A9B}"/>
              </a:ext>
            </a:extLst>
          </p:cNvPr>
          <p:cNvPicPr>
            <a:picLocks noChangeAspect="1"/>
          </p:cNvPicPr>
          <p:nvPr/>
        </p:nvPicPr>
        <p:blipFill>
          <a:blip r:embed="rId3"/>
          <a:stretch>
            <a:fillRect/>
          </a:stretch>
        </p:blipFill>
        <p:spPr>
          <a:xfrm>
            <a:off x="7592475" y="1188622"/>
            <a:ext cx="2552921" cy="853514"/>
          </a:xfrm>
          <a:prstGeom prst="rect">
            <a:avLst/>
          </a:prstGeom>
        </p:spPr>
      </p:pic>
      <p:sp>
        <p:nvSpPr>
          <p:cNvPr id="4" name="object 16">
            <a:extLst>
              <a:ext uri="{FF2B5EF4-FFF2-40B4-BE49-F238E27FC236}">
                <a16:creationId xmlns:a16="http://schemas.microsoft.com/office/drawing/2014/main" id="{8EA4F7BF-9BA5-6B49-CD8C-25EB37EBF708}"/>
              </a:ext>
            </a:extLst>
          </p:cNvPr>
          <p:cNvSpPr txBox="1">
            <a:spLocks/>
          </p:cNvSpPr>
          <p:nvPr/>
        </p:nvSpPr>
        <p:spPr>
          <a:xfrm>
            <a:off x="598795" y="281847"/>
            <a:ext cx="10994410" cy="782265"/>
          </a:xfrm>
          <a:prstGeom prst="rect">
            <a:avLst/>
          </a:prstGeom>
        </p:spPr>
        <p:txBody>
          <a:bodyPr vert="horz" wrap="square" lIns="0" tIns="12700" rIns="0" bIns="0" rtlCol="0">
            <a:spAutoFit/>
          </a:bodyPr>
          <a:lstStyle>
            <a:lvl1pPr>
              <a:defRPr>
                <a:latin typeface="+mj-lt"/>
                <a:ea typeface="+mj-ea"/>
                <a:cs typeface="+mj-cs"/>
              </a:defRPr>
            </a:lvl1pPr>
          </a:lstStyle>
          <a:p>
            <a:pPr marL="12700">
              <a:spcBef>
                <a:spcPts val="100"/>
              </a:spcBef>
            </a:pPr>
            <a:r>
              <a:rPr lang="en-US" sz="2500" b="1" kern="0" dirty="0">
                <a:solidFill>
                  <a:sysClr val="windowText" lastClr="000000"/>
                </a:solidFill>
              </a:rPr>
              <a:t>Learning outcome #4 – Waveguide compact model</a:t>
            </a:r>
            <a:br>
              <a:rPr lang="en-US" sz="2500" kern="0" spc="-5" dirty="0">
                <a:solidFill>
                  <a:sysClr val="windowText" lastClr="000000"/>
                </a:solidFill>
                <a:cs typeface="Lucida Sans"/>
              </a:rPr>
            </a:br>
            <a:endParaRPr lang="en-US" sz="2500" kern="0" dirty="0">
              <a:solidFill>
                <a:sysClr val="windowText" lastClr="000000"/>
              </a:solidFill>
              <a:cs typeface="Lucida Sans"/>
            </a:endParaRP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BDB550C4-B365-31B8-7260-06CC8123BB86}"/>
                  </a:ext>
                </a:extLst>
              </p:cNvPr>
              <p:cNvSpPr txBox="1"/>
              <p:nvPr/>
            </p:nvSpPr>
            <p:spPr>
              <a:xfrm>
                <a:off x="7462684" y="2674374"/>
                <a:ext cx="4130521" cy="2585323"/>
              </a:xfrm>
              <a:prstGeom prst="rect">
                <a:avLst/>
              </a:prstGeom>
              <a:noFill/>
            </p:spPr>
            <p:txBody>
              <a:bodyPr wrap="square" rtlCol="0">
                <a:spAutoFit/>
              </a:bodyPr>
              <a:lstStyle/>
              <a:p>
                <a:pPr algn="just"/>
                <a:r>
                  <a:rPr lang="es-ES" dirty="0"/>
                  <a:t>El valor de dispersión obtenido (</a:t>
                </a:r>
                <a14:m>
                  <m:oMath xmlns:m="http://schemas.openxmlformats.org/officeDocument/2006/math">
                    <m:r>
                      <a:rPr lang="es-ES" b="0" i="1" smtClean="0">
                        <a:latin typeface="Cambria Math" panose="02040503050406030204" pitchFamily="18" charset="0"/>
                      </a:rPr>
                      <m:t>≈</m:t>
                    </m:r>
                  </m:oMath>
                </a14:m>
                <a:r>
                  <a:rPr lang="es-ES" dirty="0"/>
                  <a:t>1000 </a:t>
                </a:r>
                <a:r>
                  <a:rPr lang="es-ES" dirty="0" err="1"/>
                  <a:t>ps</a:t>
                </a:r>
                <a:r>
                  <a:rPr lang="es-ES" dirty="0"/>
                  <a:t>(nm*km)) es coherente con una guía de onda integrada de </a:t>
                </a:r>
                <a:r>
                  <a:rPr lang="es-ES" dirty="0" err="1"/>
                  <a:t>SiN</a:t>
                </a:r>
                <a:r>
                  <a:rPr lang="es-ES" dirty="0"/>
                  <a:t>. En este tipo de estructuras, el fuerte confinamiento del modo y el alto contraste de índices hacen que la dispersión de guía tenga una contribución dominante pudiendo dar lugar a valores del orden de miles de </a:t>
                </a:r>
                <a:r>
                  <a:rPr lang="es-ES" dirty="0" err="1"/>
                  <a:t>ps</a:t>
                </a:r>
                <a:r>
                  <a:rPr lang="es-ES" dirty="0"/>
                  <a:t>(nm/km).</a:t>
                </a:r>
              </a:p>
            </p:txBody>
          </p:sp>
        </mc:Choice>
        <mc:Fallback xmlns="">
          <p:sp>
            <p:nvSpPr>
              <p:cNvPr id="5" name="CuadroTexto 4">
                <a:extLst>
                  <a:ext uri="{FF2B5EF4-FFF2-40B4-BE49-F238E27FC236}">
                    <a16:creationId xmlns:a16="http://schemas.microsoft.com/office/drawing/2014/main" id="{BDB550C4-B365-31B8-7260-06CC8123BB86}"/>
                  </a:ext>
                </a:extLst>
              </p:cNvPr>
              <p:cNvSpPr txBox="1">
                <a:spLocks noRot="1" noChangeAspect="1" noMove="1" noResize="1" noEditPoints="1" noAdjustHandles="1" noChangeArrowheads="1" noChangeShapeType="1" noTextEdit="1"/>
              </p:cNvSpPr>
              <p:nvPr/>
            </p:nvSpPr>
            <p:spPr>
              <a:xfrm>
                <a:off x="7462684" y="2674374"/>
                <a:ext cx="4130521" cy="2585323"/>
              </a:xfrm>
              <a:prstGeom prst="rect">
                <a:avLst/>
              </a:prstGeom>
              <a:blipFill>
                <a:blip r:embed="rId4"/>
                <a:stretch>
                  <a:fillRect l="-1180" t="-1415" r="-1180" b="-2830"/>
                </a:stretch>
              </a:blipFill>
            </p:spPr>
            <p:txBody>
              <a:bodyPr/>
              <a:lstStyle/>
              <a:p>
                <a:r>
                  <a:rPr lang="es-ES">
                    <a:noFill/>
                  </a:rPr>
                  <a:t> </a:t>
                </a:r>
              </a:p>
            </p:txBody>
          </p:sp>
        </mc:Fallback>
      </mc:AlternateContent>
    </p:spTree>
    <p:extLst>
      <p:ext uri="{BB962C8B-B14F-4D97-AF65-F5344CB8AC3E}">
        <p14:creationId xmlns:p14="http://schemas.microsoft.com/office/powerpoint/2010/main" val="12972547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Bend waveguide radius vs. loss – deep</a:t>
            </a:r>
            <a:br>
              <a:rPr lang="en-US" sz="2500" dirty="0"/>
            </a:br>
            <a:r>
              <a:rPr lang="en-US" b="0" dirty="0"/>
              <a:t>Find  neff_TE0 for </a:t>
            </a:r>
            <a:r>
              <a:rPr lang="en-US" b="0" dirty="0" err="1"/>
              <a:t>wvl</a:t>
            </a:r>
            <a:r>
              <a:rPr lang="en-US" b="0" dirty="0"/>
              <a:t> 1.55 µm, width 1.2 µm for R=25,50,75,100, 125,150 µm</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754326"/>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En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hay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tener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cuenta</a:t>
            </a:r>
            <a:r>
              <a:rPr lang="en-US" sz="1200" dirty="0">
                <a:latin typeface="Arial" panose="020B0604020202020204" pitchFamily="34" charset="0"/>
                <a:cs typeface="Arial" panose="020B0604020202020204" pitchFamily="34" charset="0"/>
              </a:rPr>
              <a:t> tanto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curvatura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propagación</a:t>
            </a:r>
            <a:r>
              <a:rPr lang="en-US" sz="1200" dirty="0">
                <a:latin typeface="Arial" panose="020B0604020202020204" pitchFamily="34" charset="0"/>
                <a:cs typeface="Arial" panose="020B0604020202020204" pitchFamily="34" charset="0"/>
              </a:rPr>
              <a:t>. Si temenos un </a:t>
            </a:r>
            <a:r>
              <a:rPr lang="en-US" sz="1200" dirty="0" err="1">
                <a:latin typeface="Arial" panose="020B0604020202020204" pitchFamily="34" charset="0"/>
                <a:cs typeface="Arial" panose="020B0604020202020204" pitchFamily="34" charset="0"/>
              </a:rPr>
              <a:t>giro</a:t>
            </a:r>
            <a:r>
              <a:rPr lang="en-US" sz="1200" dirty="0">
                <a:latin typeface="Arial" panose="020B0604020202020204" pitchFamily="34" charset="0"/>
                <a:cs typeface="Arial" panose="020B0604020202020204" pitchFamily="34" charset="0"/>
              </a:rPr>
              <a:t> con un radio de </a:t>
            </a:r>
            <a:r>
              <a:rPr lang="en-US" sz="1200" dirty="0" err="1">
                <a:latin typeface="Arial" panose="020B0604020202020204" pitchFamily="34" charset="0"/>
                <a:cs typeface="Arial" panose="020B0604020202020204" pitchFamily="34" charset="0"/>
              </a:rPr>
              <a:t>curvatura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pequeño</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curvatura</a:t>
            </a:r>
            <a:r>
              <a:rPr lang="en-US" sz="1200" dirty="0">
                <a:latin typeface="Arial" panose="020B0604020202020204" pitchFamily="34" charset="0"/>
                <a:cs typeface="Arial" panose="020B0604020202020204" pitchFamily="34" charset="0"/>
              </a:rPr>
              <a:t> son </a:t>
            </a:r>
            <a:r>
              <a:rPr lang="en-US" sz="1200" dirty="0" err="1">
                <a:latin typeface="Arial" panose="020B0604020202020204" pitchFamily="34" charset="0"/>
                <a:cs typeface="Arial" panose="020B0604020202020204" pitchFamily="34" charset="0"/>
              </a:rPr>
              <a:t>grandes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mientras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propagación</a:t>
            </a:r>
            <a:r>
              <a:rPr lang="en-US" sz="1200" dirty="0">
                <a:latin typeface="Arial" panose="020B0604020202020204" pitchFamily="34" charset="0"/>
                <a:cs typeface="Arial" panose="020B0604020202020204" pitchFamily="34" charset="0"/>
              </a:rPr>
              <a:t> son </a:t>
            </a:r>
            <a:r>
              <a:rPr lang="en-US" sz="1200" dirty="0" err="1">
                <a:latin typeface="Arial" panose="020B0604020202020204" pitchFamily="34" charset="0"/>
                <a:cs typeface="Arial" panose="020B0604020202020204" pitchFamily="34" charset="0"/>
              </a:rPr>
              <a:t>pequeñas</a:t>
            </a:r>
            <a:r>
              <a:rPr lang="en-US" sz="1200" dirty="0">
                <a:latin typeface="Arial" panose="020B0604020202020204" pitchFamily="34" charset="0"/>
                <a:cs typeface="Arial" panose="020B0604020202020204" pitchFamily="34" charset="0"/>
              </a:rPr>
              <a:t>. Si </a:t>
            </a:r>
            <a:r>
              <a:rPr lang="en-US" sz="1200" dirty="0" err="1">
                <a:latin typeface="Arial" panose="020B0604020202020204" pitchFamily="34" charset="0"/>
                <a:cs typeface="Arial" panose="020B0604020202020204" pitchFamily="34" charset="0"/>
              </a:rPr>
              <a:t>tenemos</a:t>
            </a:r>
            <a:r>
              <a:rPr lang="en-US" sz="1200" dirty="0">
                <a:latin typeface="Arial" panose="020B0604020202020204" pitchFamily="34" charset="0"/>
                <a:cs typeface="Arial" panose="020B0604020202020204" pitchFamily="34" charset="0"/>
              </a:rPr>
              <a:t> un radio de curvature grande,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efecto</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justo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contrario</a:t>
            </a:r>
            <a:r>
              <a:rPr lang="en-US" sz="1200" dirty="0">
                <a:latin typeface="Arial" panose="020B0604020202020204" pitchFamily="34" charset="0"/>
                <a:cs typeface="Arial" panose="020B0604020202020204" pitchFamily="34" charset="0"/>
              </a:rPr>
              <a:t>. Por tanto, es </a:t>
            </a:r>
            <a:r>
              <a:rPr lang="en-US" sz="1200" dirty="0" err="1">
                <a:latin typeface="Arial" panose="020B0604020202020204" pitchFamily="34" charset="0"/>
                <a:cs typeface="Arial" panose="020B0604020202020204" pitchFamily="34" charset="0"/>
              </a:rPr>
              <a:t>importante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encontrar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aquél</a:t>
            </a:r>
            <a:r>
              <a:rPr lang="en-US" sz="1200" dirty="0">
                <a:latin typeface="Arial" panose="020B0604020202020204" pitchFamily="34" charset="0"/>
                <a:cs typeface="Arial" panose="020B0604020202020204" pitchFamily="34" charset="0"/>
              </a:rPr>
              <a:t> punto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bien </a:t>
            </a:r>
            <a:r>
              <a:rPr lang="en-US" sz="1200" dirty="0" err="1">
                <a:latin typeface="Arial" panose="020B0604020202020204" pitchFamily="34" charset="0"/>
                <a:cs typeface="Arial" panose="020B0604020202020204" pitchFamily="34" charset="0"/>
              </a:rPr>
              <a:t>hace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haya</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mínimo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totales</a:t>
            </a:r>
            <a:r>
              <a:rPr lang="en-US" sz="1200" dirty="0">
                <a:latin typeface="Arial" panose="020B0604020202020204" pitchFamily="34" charset="0"/>
                <a:cs typeface="Arial" panose="020B0604020202020204" pitchFamily="34" charset="0"/>
              </a:rPr>
              <a:t>, o bien </a:t>
            </a:r>
            <a:r>
              <a:rPr lang="en-US" sz="1200" dirty="0" err="1">
                <a:latin typeface="Arial" panose="020B0604020202020204" pitchFamily="34" charset="0"/>
                <a:cs typeface="Arial" panose="020B0604020202020204" pitchFamily="34" charset="0"/>
              </a:rPr>
              <a:t>esté</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debajo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unas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ciertas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establecidas</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Si se </a:t>
            </a:r>
            <a:r>
              <a:rPr lang="en-US" sz="1200" dirty="0" err="1">
                <a:latin typeface="Arial" panose="020B0604020202020204" pitchFamily="34" charset="0"/>
                <a:cs typeface="Arial" panose="020B0604020202020204" pitchFamily="34" charset="0"/>
              </a:rPr>
              <a:t>considera</a:t>
            </a:r>
            <a:r>
              <a:rPr lang="en-US" sz="1200" dirty="0">
                <a:latin typeface="Arial" panose="020B0604020202020204" pitchFamily="34" charset="0"/>
                <a:cs typeface="Arial" panose="020B0604020202020204" pitchFamily="34" charset="0"/>
              </a:rPr>
              <a:t> un radio </a:t>
            </a:r>
            <a:r>
              <a:rPr lang="en-US" sz="1200" dirty="0" err="1">
                <a:latin typeface="Arial" panose="020B0604020202020204" pitchFamily="34" charset="0"/>
                <a:cs typeface="Arial" panose="020B0604020202020204" pitchFamily="34" charset="0"/>
              </a:rPr>
              <a:t>seguro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aquel</a:t>
            </a:r>
            <a:r>
              <a:rPr lang="en-US" sz="1200" dirty="0">
                <a:latin typeface="Arial" panose="020B0604020202020204" pitchFamily="34" charset="0"/>
                <a:cs typeface="Arial" panose="020B0604020202020204" pitchFamily="34" charset="0"/>
              </a:rPr>
              <a:t> primero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tenga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debajo</a:t>
            </a:r>
            <a:r>
              <a:rPr lang="en-US" sz="1200" dirty="0">
                <a:latin typeface="Arial" panose="020B0604020202020204" pitchFamily="34" charset="0"/>
                <a:cs typeface="Arial" panose="020B0604020202020204" pitchFamily="34" charset="0"/>
              </a:rPr>
              <a:t> de 0.1 dB/90º, de la </a:t>
            </a:r>
            <a:r>
              <a:rPr lang="en-US" sz="1200" dirty="0" err="1">
                <a:latin typeface="Arial" panose="020B0604020202020204" pitchFamily="34" charset="0"/>
                <a:cs typeface="Arial" panose="020B0604020202020204" pitchFamily="34" charset="0"/>
              </a:rPr>
              <a:t>gráfica</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obtiene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dicho</a:t>
            </a:r>
            <a:r>
              <a:rPr lang="en-US" sz="1200" dirty="0">
                <a:latin typeface="Arial" panose="020B0604020202020204" pitchFamily="34" charset="0"/>
                <a:cs typeface="Arial" panose="020B0604020202020204" pitchFamily="34" charset="0"/>
              </a:rPr>
              <a:t> radio es de 50um.</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Por </a:t>
            </a:r>
            <a:r>
              <a:rPr lang="en-US" sz="1200" dirty="0" err="1">
                <a:latin typeface="Arial" panose="020B0604020202020204" pitchFamily="34" charset="0"/>
                <a:cs typeface="Arial" panose="020B0604020202020204" pitchFamily="34" charset="0"/>
              </a:rPr>
              <a:t>otra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parte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observa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neff</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varía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muy</a:t>
            </a:r>
            <a:r>
              <a:rPr lang="en-US" sz="1200" dirty="0">
                <a:latin typeface="Arial" panose="020B0604020202020204" pitchFamily="34" charset="0"/>
                <a:cs typeface="Arial" panose="020B0604020202020204" pitchFamily="34" charset="0"/>
              </a:rPr>
              <a:t> poco con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radio de </a:t>
            </a:r>
            <a:r>
              <a:rPr lang="en-US" sz="1200" dirty="0" err="1">
                <a:latin typeface="Arial" panose="020B0604020202020204" pitchFamily="34" charset="0"/>
                <a:cs typeface="Arial" panose="020B0604020202020204" pitchFamily="34" charset="0"/>
              </a:rPr>
              <a:t>curvatura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tendiendo</a:t>
            </a:r>
            <a:r>
              <a:rPr lang="en-US" sz="1200" dirty="0">
                <a:latin typeface="Arial" panose="020B0604020202020204" pitchFamily="34" charset="0"/>
                <a:cs typeface="Arial" panose="020B0604020202020204" pitchFamily="34" charset="0"/>
              </a:rPr>
              <a:t> a un valor </a:t>
            </a:r>
            <a:r>
              <a:rPr lang="en-US" sz="1200" dirty="0" err="1">
                <a:latin typeface="Arial" panose="020B0604020202020204" pitchFamily="34" charset="0"/>
                <a:cs typeface="Arial" panose="020B0604020202020204" pitchFamily="34" charset="0"/>
              </a:rPr>
              <a:t>casi</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constante</a:t>
            </a:r>
            <a:r>
              <a:rPr lang="en-US" sz="1200" dirty="0">
                <a:latin typeface="Arial" panose="020B0604020202020204" pitchFamily="34" charset="0"/>
                <a:cs typeface="Arial" panose="020B0604020202020204" pitchFamily="34" charset="0"/>
              </a:rPr>
              <a:t>, lo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concuerda</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comportamiento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esperado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débilmente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curvada</a:t>
            </a:r>
            <a:r>
              <a:rPr lang="en-US" sz="1200" dirty="0">
                <a:latin typeface="Arial" panose="020B0604020202020204" pitchFamily="34" charset="0"/>
                <a:cs typeface="Arial" panose="020B0604020202020204" pitchFamily="34" charset="0"/>
              </a:rPr>
              <a:t>. (continua)</a:t>
            </a:r>
          </a:p>
        </p:txBody>
      </p:sp>
      <p:sp>
        <p:nvSpPr>
          <p:cNvPr id="7" name="Rectángulo 6">
            <a:extLst>
              <a:ext uri="{FF2B5EF4-FFF2-40B4-BE49-F238E27FC236}">
                <a16:creationId xmlns:a16="http://schemas.microsoft.com/office/drawing/2014/main" id="{B5FE8755-B0BF-14B7-64E6-4BBB2560B9A6}"/>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Gráfico, Gráfico de dispersión&#10;&#10;El contenido generado por IA puede ser incorrecto.">
            <a:extLst>
              <a:ext uri="{FF2B5EF4-FFF2-40B4-BE49-F238E27FC236}">
                <a16:creationId xmlns:a16="http://schemas.microsoft.com/office/drawing/2014/main" id="{DBF8EA0A-1A0E-58D4-4730-4A3BB5021D17}"/>
              </a:ext>
            </a:extLst>
          </p:cNvPr>
          <p:cNvPicPr>
            <a:picLocks noChangeAspect="1"/>
          </p:cNvPicPr>
          <p:nvPr/>
        </p:nvPicPr>
        <p:blipFill>
          <a:blip r:embed="rId5"/>
          <a:stretch>
            <a:fillRect/>
          </a:stretch>
        </p:blipFill>
        <p:spPr>
          <a:xfrm>
            <a:off x="685800" y="1498925"/>
            <a:ext cx="3906910" cy="3086188"/>
          </a:xfrm>
          <a:prstGeom prst="rect">
            <a:avLst/>
          </a:prstGeom>
        </p:spPr>
      </p:pic>
      <p:pic>
        <p:nvPicPr>
          <p:cNvPr id="9" name="Imagen 8" descr="Gráfico, Gráfico de líneas&#10;&#10;El contenido generado por IA puede ser incorrecto.">
            <a:extLst>
              <a:ext uri="{FF2B5EF4-FFF2-40B4-BE49-F238E27FC236}">
                <a16:creationId xmlns:a16="http://schemas.microsoft.com/office/drawing/2014/main" id="{B1D6DEA6-0D62-9757-1944-0F6678D9604B}"/>
              </a:ext>
            </a:extLst>
          </p:cNvPr>
          <p:cNvPicPr>
            <a:picLocks noChangeAspect="1"/>
          </p:cNvPicPr>
          <p:nvPr/>
        </p:nvPicPr>
        <p:blipFill>
          <a:blip r:embed="rId6"/>
          <a:stretch>
            <a:fillRect/>
          </a:stretch>
        </p:blipFill>
        <p:spPr>
          <a:xfrm>
            <a:off x="7266039" y="1486340"/>
            <a:ext cx="4105819" cy="3145030"/>
          </a:xfrm>
          <a:prstGeom prst="rect">
            <a:avLst/>
          </a:prstGeom>
        </p:spPr>
      </p:pic>
      <p:pic>
        <p:nvPicPr>
          <p:cNvPr id="11" name="Imagen 10">
            <a:extLst>
              <a:ext uri="{FF2B5EF4-FFF2-40B4-BE49-F238E27FC236}">
                <a16:creationId xmlns:a16="http://schemas.microsoft.com/office/drawing/2014/main" id="{510599E2-BE76-53E3-5C92-362E9FFA79AF}"/>
              </a:ext>
            </a:extLst>
          </p:cNvPr>
          <p:cNvPicPr>
            <a:picLocks noChangeAspect="1"/>
          </p:cNvPicPr>
          <p:nvPr/>
        </p:nvPicPr>
        <p:blipFill>
          <a:blip r:embed="rId7"/>
          <a:stretch>
            <a:fillRect/>
          </a:stretch>
        </p:blipFill>
        <p:spPr>
          <a:xfrm>
            <a:off x="4592710" y="4439277"/>
            <a:ext cx="1767156" cy="257244"/>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97F66385-C7F5-5926-9323-26CDDA673AA2}"/>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3" name="CuadroTexto 2">
            <a:extLst>
              <a:ext uri="{FF2B5EF4-FFF2-40B4-BE49-F238E27FC236}">
                <a16:creationId xmlns:a16="http://schemas.microsoft.com/office/drawing/2014/main" id="{6E5008F7-78DA-7976-D269-578B5D1548A1}"/>
              </a:ext>
            </a:extLst>
          </p:cNvPr>
          <p:cNvSpPr txBox="1"/>
          <p:nvPr/>
        </p:nvSpPr>
        <p:spPr>
          <a:xfrm>
            <a:off x="2982000" y="2413800"/>
            <a:ext cx="6229350" cy="2031325"/>
          </a:xfrm>
          <a:prstGeom prst="rect">
            <a:avLst/>
          </a:prstGeom>
          <a:noFill/>
        </p:spPr>
        <p:txBody>
          <a:bodyPr wrap="square" rtlCol="0">
            <a:spAutoFit/>
          </a:bodyPr>
          <a:lstStyle/>
          <a:p>
            <a:pPr algn="just"/>
            <a:r>
              <a:rPr lang="es-ES" dirty="0"/>
              <a:t>Para radios pequeños, el modo está más comprimido hacia el exterior de la curva, por lo que </a:t>
            </a:r>
            <a:r>
              <a:rPr lang="es-ES" dirty="0" err="1"/>
              <a:t>neff</a:t>
            </a:r>
            <a:r>
              <a:rPr lang="es-ES" dirty="0"/>
              <a:t> disminuye ligeramente.</a:t>
            </a:r>
          </a:p>
          <a:p>
            <a:pPr algn="just"/>
            <a:endParaRPr lang="es-ES" dirty="0"/>
          </a:p>
          <a:p>
            <a:pPr algn="just"/>
            <a:r>
              <a:rPr lang="es-ES" dirty="0"/>
              <a:t>A medida que el radio aumenta, la curva afecta menos al modo (a radios grandes es como una guía recta), lo que provoca que se estabilice (las pequeñas variaciones pueden deberse a errores en el programa).</a:t>
            </a:r>
          </a:p>
        </p:txBody>
      </p:sp>
      <p:sp>
        <p:nvSpPr>
          <p:cNvPr id="4" name="object 16">
            <a:extLst>
              <a:ext uri="{FF2B5EF4-FFF2-40B4-BE49-F238E27FC236}">
                <a16:creationId xmlns:a16="http://schemas.microsoft.com/office/drawing/2014/main" id="{8312300B-6320-E5EE-1C81-D5D92FB40569}"/>
              </a:ext>
            </a:extLst>
          </p:cNvPr>
          <p:cNvSpPr txBox="1">
            <a:spLocks/>
          </p:cNvSpPr>
          <p:nvPr/>
        </p:nvSpPr>
        <p:spPr>
          <a:xfrm>
            <a:off x="685800" y="408883"/>
            <a:ext cx="10994410" cy="397545"/>
          </a:xfrm>
          <a:prstGeom prst="rect">
            <a:avLst/>
          </a:prstGeom>
        </p:spPr>
        <p:txBody>
          <a:bodyPr vert="horz" wrap="square" lIns="0" tIns="12700" rIns="0" bIns="0" rtlCol="0">
            <a:spAutoFit/>
          </a:bodyPr>
          <a:lstStyle>
            <a:lvl1pPr>
              <a:defRPr>
                <a:latin typeface="+mj-lt"/>
                <a:ea typeface="+mj-ea"/>
                <a:cs typeface="+mj-cs"/>
              </a:defRPr>
            </a:lvl1pPr>
          </a:lstStyle>
          <a:p>
            <a:pPr marL="12700">
              <a:spcBef>
                <a:spcPts val="100"/>
              </a:spcBef>
            </a:pPr>
            <a:r>
              <a:rPr lang="en-US" sz="2500" b="1" kern="0" dirty="0">
                <a:solidFill>
                  <a:sysClr val="windowText" lastClr="000000"/>
                </a:solidFill>
              </a:rPr>
              <a:t>Learning outcome #5 – Bend waveguide radius vs. loss – deep</a:t>
            </a:r>
            <a:endParaRPr lang="en-US" sz="2500" b="1" kern="0" dirty="0">
              <a:solidFill>
                <a:sysClr val="windowText" lastClr="000000"/>
              </a:solidFill>
              <a:cs typeface="Lucida Sans"/>
            </a:endParaRPr>
          </a:p>
        </p:txBody>
      </p:sp>
    </p:spTree>
    <p:extLst>
      <p:ext uri="{BB962C8B-B14F-4D97-AF65-F5344CB8AC3E}">
        <p14:creationId xmlns:p14="http://schemas.microsoft.com/office/powerpoint/2010/main" val="20036682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5BF3C143-543B-D469-0C32-F952DC886602}"/>
              </a:ext>
            </a:extLst>
          </p:cNvPr>
          <p:cNvSpPr>
            <a:spLocks noGrp="1"/>
          </p:cNvSpPr>
          <p:nvPr>
            <p:ph type="sldNum" sz="quarter" idx="7"/>
          </p:nvPr>
        </p:nvSpPr>
        <p:spPr/>
        <p:txBody>
          <a:bodyPr/>
          <a:lstStyle/>
          <a:p>
            <a:fld id="{B6F15528-21DE-4FAA-801E-634DDDAF4B2B}" type="slidenum">
              <a:rPr lang="es-ES" smtClean="0"/>
              <a:t>22</a:t>
            </a:fld>
            <a:endParaRPr lang="es-ES"/>
          </a:p>
        </p:txBody>
      </p:sp>
      <p:sp>
        <p:nvSpPr>
          <p:cNvPr id="3" name="CuadroTexto 2">
            <a:extLst>
              <a:ext uri="{FF2B5EF4-FFF2-40B4-BE49-F238E27FC236}">
                <a16:creationId xmlns:a16="http://schemas.microsoft.com/office/drawing/2014/main" id="{3053D6F7-0361-FD72-FB9C-9B0AA1598711}"/>
              </a:ext>
            </a:extLst>
          </p:cNvPr>
          <p:cNvSpPr txBox="1"/>
          <p:nvPr/>
        </p:nvSpPr>
        <p:spPr>
          <a:xfrm>
            <a:off x="609601" y="757084"/>
            <a:ext cx="914400" cy="369332"/>
          </a:xfrm>
          <a:prstGeom prst="rect">
            <a:avLst/>
          </a:prstGeom>
          <a:noFill/>
        </p:spPr>
        <p:txBody>
          <a:bodyPr wrap="square" rtlCol="0">
            <a:spAutoFit/>
          </a:bodyPr>
          <a:lstStyle/>
          <a:p>
            <a:r>
              <a:rPr lang="es-ES" b="1"/>
              <a:t>Extra 1</a:t>
            </a:r>
          </a:p>
        </p:txBody>
      </p:sp>
      <p:sp>
        <p:nvSpPr>
          <p:cNvPr id="4" name="CuadroTexto 3">
            <a:extLst>
              <a:ext uri="{FF2B5EF4-FFF2-40B4-BE49-F238E27FC236}">
                <a16:creationId xmlns:a16="http://schemas.microsoft.com/office/drawing/2014/main" id="{42A4D98B-5B1B-44F9-4AD4-A5D9FB0B27A2}"/>
              </a:ext>
            </a:extLst>
          </p:cNvPr>
          <p:cNvSpPr txBox="1"/>
          <p:nvPr/>
        </p:nvSpPr>
        <p:spPr>
          <a:xfrm>
            <a:off x="609601" y="1356852"/>
            <a:ext cx="1012723" cy="369332"/>
          </a:xfrm>
          <a:prstGeom prst="rect">
            <a:avLst/>
          </a:prstGeom>
          <a:noFill/>
        </p:spPr>
        <p:txBody>
          <a:bodyPr wrap="square" rtlCol="0">
            <a:spAutoFit/>
          </a:bodyPr>
          <a:lstStyle/>
          <a:p>
            <a:r>
              <a:rPr lang="es-ES"/>
              <a:t>Deep</a:t>
            </a:r>
          </a:p>
        </p:txBody>
      </p:sp>
      <p:pic>
        <p:nvPicPr>
          <p:cNvPr id="6" name="Imagen 5" descr="Gráfico, Gráfico de líneas&#10;&#10;El contenido generado por IA puede ser incorrecto.">
            <a:extLst>
              <a:ext uri="{FF2B5EF4-FFF2-40B4-BE49-F238E27FC236}">
                <a16:creationId xmlns:a16="http://schemas.microsoft.com/office/drawing/2014/main" id="{93169AA0-0E82-6D12-9106-54C18DA095D7}"/>
              </a:ext>
            </a:extLst>
          </p:cNvPr>
          <p:cNvPicPr>
            <a:picLocks noChangeAspect="1"/>
          </p:cNvPicPr>
          <p:nvPr/>
        </p:nvPicPr>
        <p:blipFill>
          <a:blip r:embed="rId2"/>
          <a:stretch>
            <a:fillRect/>
          </a:stretch>
        </p:blipFill>
        <p:spPr>
          <a:xfrm>
            <a:off x="1619875" y="578930"/>
            <a:ext cx="5513263" cy="3216070"/>
          </a:xfrm>
          <a:prstGeom prst="rect">
            <a:avLst/>
          </a:prstGeom>
        </p:spPr>
      </p:pic>
      <p:pic>
        <p:nvPicPr>
          <p:cNvPr id="8" name="Imagen 7" descr="Gráfico&#10;&#10;El contenido generado por IA puede ser incorrecto.">
            <a:extLst>
              <a:ext uri="{FF2B5EF4-FFF2-40B4-BE49-F238E27FC236}">
                <a16:creationId xmlns:a16="http://schemas.microsoft.com/office/drawing/2014/main" id="{E31BFC9A-08A6-3E6E-8414-EEEC80603C1D}"/>
              </a:ext>
            </a:extLst>
          </p:cNvPr>
          <p:cNvPicPr>
            <a:picLocks noChangeAspect="1"/>
          </p:cNvPicPr>
          <p:nvPr/>
        </p:nvPicPr>
        <p:blipFill>
          <a:blip r:embed="rId3"/>
          <a:stretch>
            <a:fillRect/>
          </a:stretch>
        </p:blipFill>
        <p:spPr>
          <a:xfrm>
            <a:off x="7235138" y="330302"/>
            <a:ext cx="4519920" cy="3460187"/>
          </a:xfrm>
          <a:prstGeom prst="rect">
            <a:avLst/>
          </a:prstGeom>
        </p:spPr>
      </p:pic>
      <p:sp>
        <p:nvSpPr>
          <p:cNvPr id="9" name="CuadroTexto 8">
            <a:extLst>
              <a:ext uri="{FF2B5EF4-FFF2-40B4-BE49-F238E27FC236}">
                <a16:creationId xmlns:a16="http://schemas.microsoft.com/office/drawing/2014/main" id="{311D3D25-5CBD-0D89-2F13-A1E231CE7021}"/>
              </a:ext>
            </a:extLst>
          </p:cNvPr>
          <p:cNvSpPr txBox="1"/>
          <p:nvPr/>
        </p:nvSpPr>
        <p:spPr>
          <a:xfrm>
            <a:off x="2743200" y="3962400"/>
            <a:ext cx="9011858" cy="2031325"/>
          </a:xfrm>
          <a:prstGeom prst="rect">
            <a:avLst/>
          </a:prstGeom>
          <a:noFill/>
        </p:spPr>
        <p:txBody>
          <a:bodyPr wrap="square" rtlCol="0">
            <a:spAutoFit/>
          </a:bodyPr>
          <a:lstStyle/>
          <a:p>
            <a:pPr algn="just"/>
            <a:r>
              <a:rPr lang="es-ES" dirty="0"/>
              <a:t>Como se ha visto en el apartado 1, el Si tiene un </a:t>
            </a:r>
            <a:r>
              <a:rPr lang="es-ES" dirty="0" err="1"/>
              <a:t>neff</a:t>
            </a:r>
            <a:r>
              <a:rPr lang="es-ES" dirty="0"/>
              <a:t> alrededor de 3,47, lo que provoca ahora que se tenga más rango para encontrar aquellos candidatos en donde la luz va centrada.</a:t>
            </a:r>
          </a:p>
          <a:p>
            <a:pPr algn="just"/>
            <a:endParaRPr lang="es-ES" dirty="0"/>
          </a:p>
          <a:p>
            <a:pPr algn="just"/>
            <a:r>
              <a:rPr lang="es-ES" dirty="0"/>
              <a:t>Además, se observa como las curvas de los modos han aumentado sus valores, lo que provoca que se puedan encontrar hasta 3 modos que cumplen la condición de tener un </a:t>
            </a:r>
            <a:r>
              <a:rPr lang="es-ES" dirty="0" err="1"/>
              <a:t>neff</a:t>
            </a:r>
            <a:r>
              <a:rPr lang="es-ES" dirty="0"/>
              <a:t> perteneciente a [1.44-3.47], en contraposición de los 2 modos disponibles en el apartado 2.</a:t>
            </a:r>
          </a:p>
          <a:p>
            <a:pPr algn="just"/>
            <a:r>
              <a:rPr lang="es-ES" dirty="0"/>
              <a:t>(continua)</a:t>
            </a:r>
          </a:p>
        </p:txBody>
      </p:sp>
    </p:spTree>
    <p:extLst>
      <p:ext uri="{BB962C8B-B14F-4D97-AF65-F5344CB8AC3E}">
        <p14:creationId xmlns:p14="http://schemas.microsoft.com/office/powerpoint/2010/main" val="16559754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49FC6-DF45-8DE4-0D3E-56A4746B9985}"/>
            </a:ext>
          </a:extLst>
        </p:cNvPr>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DA92CBF-3163-8B10-0363-C009746A2B9E}"/>
              </a:ext>
            </a:extLst>
          </p:cNvPr>
          <p:cNvSpPr>
            <a:spLocks noGrp="1"/>
          </p:cNvSpPr>
          <p:nvPr>
            <p:ph type="sldNum" sz="quarter" idx="7"/>
          </p:nvPr>
        </p:nvSpPr>
        <p:spPr/>
        <p:txBody>
          <a:bodyPr/>
          <a:lstStyle/>
          <a:p>
            <a:fld id="{B6F15528-21DE-4FAA-801E-634DDDAF4B2B}" type="slidenum">
              <a:rPr lang="es-ES" smtClean="0"/>
              <a:t>23</a:t>
            </a:fld>
            <a:endParaRPr lang="es-ES"/>
          </a:p>
        </p:txBody>
      </p:sp>
      <p:sp>
        <p:nvSpPr>
          <p:cNvPr id="3" name="CuadroTexto 2">
            <a:extLst>
              <a:ext uri="{FF2B5EF4-FFF2-40B4-BE49-F238E27FC236}">
                <a16:creationId xmlns:a16="http://schemas.microsoft.com/office/drawing/2014/main" id="{E046245A-C726-4828-F69E-FD17691BC9F8}"/>
              </a:ext>
            </a:extLst>
          </p:cNvPr>
          <p:cNvSpPr txBox="1"/>
          <p:nvPr/>
        </p:nvSpPr>
        <p:spPr>
          <a:xfrm>
            <a:off x="1593601" y="1177084"/>
            <a:ext cx="914400" cy="369332"/>
          </a:xfrm>
          <a:prstGeom prst="rect">
            <a:avLst/>
          </a:prstGeom>
          <a:noFill/>
        </p:spPr>
        <p:txBody>
          <a:bodyPr wrap="square" rtlCol="0">
            <a:spAutoFit/>
          </a:bodyPr>
          <a:lstStyle/>
          <a:p>
            <a:r>
              <a:rPr lang="es-ES" b="1"/>
              <a:t>Extra 1</a:t>
            </a:r>
          </a:p>
        </p:txBody>
      </p:sp>
      <p:sp>
        <p:nvSpPr>
          <p:cNvPr id="4" name="CuadroTexto 3">
            <a:extLst>
              <a:ext uri="{FF2B5EF4-FFF2-40B4-BE49-F238E27FC236}">
                <a16:creationId xmlns:a16="http://schemas.microsoft.com/office/drawing/2014/main" id="{B1B3D366-4971-F7CC-D6FC-50F4DB387210}"/>
              </a:ext>
            </a:extLst>
          </p:cNvPr>
          <p:cNvSpPr txBox="1"/>
          <p:nvPr/>
        </p:nvSpPr>
        <p:spPr>
          <a:xfrm>
            <a:off x="1593601" y="2184852"/>
            <a:ext cx="1012723" cy="369332"/>
          </a:xfrm>
          <a:prstGeom prst="rect">
            <a:avLst/>
          </a:prstGeom>
          <a:noFill/>
        </p:spPr>
        <p:txBody>
          <a:bodyPr wrap="square" lIns="91440" tIns="45720" rIns="91440" bIns="45720" rtlCol="0" anchor="t">
            <a:spAutoFit/>
          </a:bodyPr>
          <a:lstStyle/>
          <a:p>
            <a:r>
              <a:rPr lang="es-ES" b="1"/>
              <a:t>Deep</a:t>
            </a:r>
          </a:p>
        </p:txBody>
      </p:sp>
      <p:sp>
        <p:nvSpPr>
          <p:cNvPr id="9" name="CuadroTexto 8">
            <a:extLst>
              <a:ext uri="{FF2B5EF4-FFF2-40B4-BE49-F238E27FC236}">
                <a16:creationId xmlns:a16="http://schemas.microsoft.com/office/drawing/2014/main" id="{A76C259A-7432-66BA-67EA-B7E8703F9FB1}"/>
              </a:ext>
            </a:extLst>
          </p:cNvPr>
          <p:cNvSpPr txBox="1"/>
          <p:nvPr/>
        </p:nvSpPr>
        <p:spPr>
          <a:xfrm>
            <a:off x="1592324" y="2831518"/>
            <a:ext cx="9011858" cy="1200329"/>
          </a:xfrm>
          <a:prstGeom prst="rect">
            <a:avLst/>
          </a:prstGeom>
          <a:noFill/>
        </p:spPr>
        <p:txBody>
          <a:bodyPr wrap="square" rtlCol="0">
            <a:spAutoFit/>
          </a:bodyPr>
          <a:lstStyle/>
          <a:p>
            <a:pPr algn="just"/>
            <a:r>
              <a:rPr lang="es-ES" dirty="0"/>
              <a:t>Al sustituir el material del núcleo de </a:t>
            </a:r>
            <a:r>
              <a:rPr lang="es-ES" dirty="0" err="1"/>
              <a:t>SiN</a:t>
            </a:r>
            <a:r>
              <a:rPr lang="es-ES" dirty="0"/>
              <a:t> a Si, el índice efectivo de los modos aumenta significativamente. Esto se debe al mayor índice de refracción del silicio, que incrementa el confinamiento y desplaza las curvas de </a:t>
            </a:r>
            <a:r>
              <a:rPr lang="es-ES" dirty="0" err="1"/>
              <a:t>neff</a:t>
            </a:r>
            <a:r>
              <a:rPr lang="es-ES" dirty="0"/>
              <a:t> hacia valores superiores. El comportamiento observado es el esperado físicamente.</a:t>
            </a:r>
          </a:p>
        </p:txBody>
      </p:sp>
    </p:spTree>
    <p:extLst>
      <p:ext uri="{BB962C8B-B14F-4D97-AF65-F5344CB8AC3E}">
        <p14:creationId xmlns:p14="http://schemas.microsoft.com/office/powerpoint/2010/main" val="886481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BD8AD-53DD-C8EB-E170-FA44CC23C002}"/>
            </a:ext>
          </a:extLst>
        </p:cNvPr>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E2450739-4B5A-0AA9-A8D1-92DA401BE490}"/>
              </a:ext>
            </a:extLst>
          </p:cNvPr>
          <p:cNvSpPr>
            <a:spLocks noGrp="1"/>
          </p:cNvSpPr>
          <p:nvPr>
            <p:ph type="sldNum" sz="quarter" idx="7"/>
          </p:nvPr>
        </p:nvSpPr>
        <p:spPr/>
        <p:txBody>
          <a:bodyPr/>
          <a:lstStyle/>
          <a:p>
            <a:fld id="{B6F15528-21DE-4FAA-801E-634DDDAF4B2B}" type="slidenum">
              <a:rPr lang="es-ES" smtClean="0"/>
              <a:t>24</a:t>
            </a:fld>
            <a:endParaRPr lang="es-ES"/>
          </a:p>
        </p:txBody>
      </p:sp>
      <p:sp>
        <p:nvSpPr>
          <p:cNvPr id="3" name="CuadroTexto 2">
            <a:extLst>
              <a:ext uri="{FF2B5EF4-FFF2-40B4-BE49-F238E27FC236}">
                <a16:creationId xmlns:a16="http://schemas.microsoft.com/office/drawing/2014/main" id="{786F193B-9307-7B21-7FE2-8512ED92B5A2}"/>
              </a:ext>
            </a:extLst>
          </p:cNvPr>
          <p:cNvSpPr txBox="1"/>
          <p:nvPr/>
        </p:nvSpPr>
        <p:spPr>
          <a:xfrm>
            <a:off x="609601" y="757084"/>
            <a:ext cx="914400" cy="369332"/>
          </a:xfrm>
          <a:prstGeom prst="rect">
            <a:avLst/>
          </a:prstGeom>
          <a:noFill/>
        </p:spPr>
        <p:txBody>
          <a:bodyPr wrap="square" rtlCol="0">
            <a:spAutoFit/>
          </a:bodyPr>
          <a:lstStyle/>
          <a:p>
            <a:r>
              <a:rPr lang="es-ES" b="1"/>
              <a:t>Extra 1</a:t>
            </a:r>
          </a:p>
        </p:txBody>
      </p:sp>
      <p:sp>
        <p:nvSpPr>
          <p:cNvPr id="4" name="CuadroTexto 3">
            <a:extLst>
              <a:ext uri="{FF2B5EF4-FFF2-40B4-BE49-F238E27FC236}">
                <a16:creationId xmlns:a16="http://schemas.microsoft.com/office/drawing/2014/main" id="{A679BDB2-251F-3E68-6113-B8C7E0281F33}"/>
              </a:ext>
            </a:extLst>
          </p:cNvPr>
          <p:cNvSpPr txBox="1"/>
          <p:nvPr/>
        </p:nvSpPr>
        <p:spPr>
          <a:xfrm>
            <a:off x="609601" y="1356852"/>
            <a:ext cx="1012723" cy="369332"/>
          </a:xfrm>
          <a:prstGeom prst="rect">
            <a:avLst/>
          </a:prstGeom>
          <a:noFill/>
        </p:spPr>
        <p:txBody>
          <a:bodyPr wrap="square" lIns="91440" tIns="45720" rIns="91440" bIns="45720" rtlCol="0" anchor="t">
            <a:spAutoFit/>
          </a:bodyPr>
          <a:lstStyle/>
          <a:p>
            <a:r>
              <a:rPr lang="es-ES" b="1" dirty="0" err="1"/>
              <a:t>Shallow</a:t>
            </a:r>
            <a:endParaRPr lang="es-ES" b="1" dirty="0"/>
          </a:p>
        </p:txBody>
      </p:sp>
      <p:sp>
        <p:nvSpPr>
          <p:cNvPr id="9" name="CuadroTexto 8">
            <a:extLst>
              <a:ext uri="{FF2B5EF4-FFF2-40B4-BE49-F238E27FC236}">
                <a16:creationId xmlns:a16="http://schemas.microsoft.com/office/drawing/2014/main" id="{1E08258F-C97D-0D97-0975-D0F09C2701E0}"/>
              </a:ext>
            </a:extLst>
          </p:cNvPr>
          <p:cNvSpPr txBox="1"/>
          <p:nvPr/>
        </p:nvSpPr>
        <p:spPr>
          <a:xfrm>
            <a:off x="2743200" y="3962400"/>
            <a:ext cx="9011858" cy="1754326"/>
          </a:xfrm>
          <a:prstGeom prst="rect">
            <a:avLst/>
          </a:prstGeom>
          <a:noFill/>
        </p:spPr>
        <p:txBody>
          <a:bodyPr wrap="square" rtlCol="0">
            <a:spAutoFit/>
          </a:bodyPr>
          <a:lstStyle/>
          <a:p>
            <a:pPr algn="just"/>
            <a:r>
              <a:rPr lang="es-ES" dirty="0"/>
              <a:t>Se observa claramente que ahora se pueden emplear los 4 modos del apartado 2 sin problemas.</a:t>
            </a:r>
          </a:p>
          <a:p>
            <a:pPr algn="just"/>
            <a:endParaRPr lang="es-ES" dirty="0"/>
          </a:p>
          <a:p>
            <a:pPr algn="just"/>
            <a:r>
              <a:rPr lang="es-ES" dirty="0"/>
              <a:t>Igual que en el caso anterior, las curvas de los modos aumentan, dejando un gran espacio para poder llegar a introducir más modos.</a:t>
            </a:r>
          </a:p>
          <a:p>
            <a:pPr algn="just"/>
            <a:r>
              <a:rPr lang="es-ES" dirty="0"/>
              <a:t>(continua)</a:t>
            </a:r>
          </a:p>
        </p:txBody>
      </p:sp>
      <p:pic>
        <p:nvPicPr>
          <p:cNvPr id="7" name="Imagen 6" descr="Gráfico, Gráfico de líneas&#10;&#10;El contenido generado por IA puede ser incorrecto.">
            <a:extLst>
              <a:ext uri="{FF2B5EF4-FFF2-40B4-BE49-F238E27FC236}">
                <a16:creationId xmlns:a16="http://schemas.microsoft.com/office/drawing/2014/main" id="{49D00515-09D2-2B74-9360-8FCC1FB389CA}"/>
              </a:ext>
            </a:extLst>
          </p:cNvPr>
          <p:cNvPicPr>
            <a:picLocks noChangeAspect="1"/>
          </p:cNvPicPr>
          <p:nvPr/>
        </p:nvPicPr>
        <p:blipFill>
          <a:blip r:embed="rId2"/>
          <a:stretch>
            <a:fillRect/>
          </a:stretch>
        </p:blipFill>
        <p:spPr>
          <a:xfrm>
            <a:off x="1725343" y="743098"/>
            <a:ext cx="5530118" cy="3225902"/>
          </a:xfrm>
          <a:prstGeom prst="rect">
            <a:avLst/>
          </a:prstGeom>
        </p:spPr>
      </p:pic>
      <p:pic>
        <p:nvPicPr>
          <p:cNvPr id="11" name="Imagen 10" descr="Gráfico&#10;&#10;El contenido generado por IA puede ser incorrecto.">
            <a:extLst>
              <a:ext uri="{FF2B5EF4-FFF2-40B4-BE49-F238E27FC236}">
                <a16:creationId xmlns:a16="http://schemas.microsoft.com/office/drawing/2014/main" id="{E5A4C28B-858A-D87E-1E1E-171BA7AF751B}"/>
              </a:ext>
            </a:extLst>
          </p:cNvPr>
          <p:cNvPicPr>
            <a:picLocks noChangeAspect="1"/>
          </p:cNvPicPr>
          <p:nvPr/>
        </p:nvPicPr>
        <p:blipFill>
          <a:blip r:embed="rId3"/>
          <a:stretch>
            <a:fillRect/>
          </a:stretch>
        </p:blipFill>
        <p:spPr>
          <a:xfrm>
            <a:off x="7249461" y="653098"/>
            <a:ext cx="4329297" cy="3314258"/>
          </a:xfrm>
          <a:prstGeom prst="rect">
            <a:avLst/>
          </a:prstGeom>
        </p:spPr>
      </p:pic>
    </p:spTree>
    <p:extLst>
      <p:ext uri="{BB962C8B-B14F-4D97-AF65-F5344CB8AC3E}">
        <p14:creationId xmlns:p14="http://schemas.microsoft.com/office/powerpoint/2010/main" val="9650007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E4053-FC97-9AF8-CEDD-30809E3C6232}"/>
            </a:ext>
          </a:extLst>
        </p:cNvPr>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E32C0DE0-E7BC-F3D4-6A9F-57BC552FEC9C}"/>
              </a:ext>
            </a:extLst>
          </p:cNvPr>
          <p:cNvSpPr>
            <a:spLocks noGrp="1"/>
          </p:cNvSpPr>
          <p:nvPr>
            <p:ph type="sldNum" sz="quarter" idx="7"/>
          </p:nvPr>
        </p:nvSpPr>
        <p:spPr/>
        <p:txBody>
          <a:bodyPr/>
          <a:lstStyle/>
          <a:p>
            <a:fld id="{B6F15528-21DE-4FAA-801E-634DDDAF4B2B}" type="slidenum">
              <a:rPr lang="es-ES" smtClean="0"/>
              <a:t>25</a:t>
            </a:fld>
            <a:endParaRPr lang="es-ES"/>
          </a:p>
        </p:txBody>
      </p:sp>
      <p:sp>
        <p:nvSpPr>
          <p:cNvPr id="3" name="CuadroTexto 2">
            <a:extLst>
              <a:ext uri="{FF2B5EF4-FFF2-40B4-BE49-F238E27FC236}">
                <a16:creationId xmlns:a16="http://schemas.microsoft.com/office/drawing/2014/main" id="{BA610A90-7453-5184-F189-7CA193930CD5}"/>
              </a:ext>
            </a:extLst>
          </p:cNvPr>
          <p:cNvSpPr txBox="1"/>
          <p:nvPr/>
        </p:nvSpPr>
        <p:spPr>
          <a:xfrm>
            <a:off x="1113601" y="1225084"/>
            <a:ext cx="914400" cy="369332"/>
          </a:xfrm>
          <a:prstGeom prst="rect">
            <a:avLst/>
          </a:prstGeom>
          <a:noFill/>
        </p:spPr>
        <p:txBody>
          <a:bodyPr wrap="square" rtlCol="0">
            <a:spAutoFit/>
          </a:bodyPr>
          <a:lstStyle/>
          <a:p>
            <a:r>
              <a:rPr lang="es-ES" b="1"/>
              <a:t>Extra 1</a:t>
            </a:r>
          </a:p>
        </p:txBody>
      </p:sp>
      <p:sp>
        <p:nvSpPr>
          <p:cNvPr id="4" name="CuadroTexto 3">
            <a:extLst>
              <a:ext uri="{FF2B5EF4-FFF2-40B4-BE49-F238E27FC236}">
                <a16:creationId xmlns:a16="http://schemas.microsoft.com/office/drawing/2014/main" id="{BE04204E-AE9E-7310-8F32-8636220A65DA}"/>
              </a:ext>
            </a:extLst>
          </p:cNvPr>
          <p:cNvSpPr txBox="1"/>
          <p:nvPr/>
        </p:nvSpPr>
        <p:spPr>
          <a:xfrm>
            <a:off x="1065601" y="1716852"/>
            <a:ext cx="1012723" cy="369332"/>
          </a:xfrm>
          <a:prstGeom prst="rect">
            <a:avLst/>
          </a:prstGeom>
          <a:noFill/>
        </p:spPr>
        <p:txBody>
          <a:bodyPr wrap="square" lIns="91440" tIns="45720" rIns="91440" bIns="45720" rtlCol="0" anchor="t">
            <a:spAutoFit/>
          </a:bodyPr>
          <a:lstStyle/>
          <a:p>
            <a:r>
              <a:rPr lang="es-ES" b="1" dirty="0" err="1"/>
              <a:t>Shallow</a:t>
            </a:r>
            <a:endParaRPr lang="es-ES" b="1" dirty="0"/>
          </a:p>
        </p:txBody>
      </p:sp>
      <p:pic>
        <p:nvPicPr>
          <p:cNvPr id="6" name="Imagen 5" descr="Diagrama&#10;&#10;El contenido generado por IA puede ser incorrecto.">
            <a:extLst>
              <a:ext uri="{FF2B5EF4-FFF2-40B4-BE49-F238E27FC236}">
                <a16:creationId xmlns:a16="http://schemas.microsoft.com/office/drawing/2014/main" id="{B5019C8D-FE5B-D0ED-7CED-987CCA5A4D48}"/>
              </a:ext>
            </a:extLst>
          </p:cNvPr>
          <p:cNvPicPr>
            <a:picLocks noChangeAspect="1"/>
          </p:cNvPicPr>
          <p:nvPr/>
        </p:nvPicPr>
        <p:blipFill>
          <a:blip r:embed="rId2"/>
          <a:stretch>
            <a:fillRect/>
          </a:stretch>
        </p:blipFill>
        <p:spPr>
          <a:xfrm>
            <a:off x="3176193" y="755160"/>
            <a:ext cx="6919613" cy="4036441"/>
          </a:xfrm>
          <a:prstGeom prst="rect">
            <a:avLst/>
          </a:prstGeom>
        </p:spPr>
      </p:pic>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F77EBD28-CA8A-E4C6-A6FD-F5A2C4299604}"/>
                  </a:ext>
                </a:extLst>
              </p:cNvPr>
              <p:cNvSpPr txBox="1"/>
              <p:nvPr/>
            </p:nvSpPr>
            <p:spPr>
              <a:xfrm>
                <a:off x="2812026" y="4905677"/>
                <a:ext cx="7649497" cy="923330"/>
              </a:xfrm>
              <a:prstGeom prst="rect">
                <a:avLst/>
              </a:prstGeom>
              <a:noFill/>
            </p:spPr>
            <p:txBody>
              <a:bodyPr wrap="square" rtlCol="0">
                <a:spAutoFit/>
              </a:bodyPr>
              <a:lstStyle/>
              <a:p>
                <a:pPr algn="just"/>
                <a:r>
                  <a:rPr lang="es-ES" dirty="0"/>
                  <a:t>Como se ha comentado anteriormente, al existir ahora más espacio, se pueden llegar a encontrar hasta 14 modos que cumplan los requisitos de </a:t>
                </a:r>
                <a:r>
                  <a:rPr lang="es-ES" dirty="0" err="1"/>
                  <a:t>neff</a:t>
                </a:r>
                <a:r>
                  <a:rPr lang="es-ES" dirty="0"/>
                  <a:t> en el rango de </a:t>
                </a:r>
                <a14:m>
                  <m:oMath xmlns:m="http://schemas.openxmlformats.org/officeDocument/2006/math">
                    <m:r>
                      <a:rPr lang="es-ES" b="0" i="1" smtClean="0">
                        <a:latin typeface="Cambria Math" panose="02040503050406030204" pitchFamily="18" charset="0"/>
                      </a:rPr>
                      <m:t>𝜆</m:t>
                    </m:r>
                  </m:oMath>
                </a14:m>
                <a:r>
                  <a:rPr lang="es-ES" dirty="0"/>
                  <a:t> empleado.</a:t>
                </a:r>
              </a:p>
            </p:txBody>
          </p:sp>
        </mc:Choice>
        <mc:Fallback>
          <p:sp>
            <p:nvSpPr>
              <p:cNvPr id="8" name="CuadroTexto 7">
                <a:extLst>
                  <a:ext uri="{FF2B5EF4-FFF2-40B4-BE49-F238E27FC236}">
                    <a16:creationId xmlns:a16="http://schemas.microsoft.com/office/drawing/2014/main" id="{F77EBD28-CA8A-E4C6-A6FD-F5A2C4299604}"/>
                  </a:ext>
                </a:extLst>
              </p:cNvPr>
              <p:cNvSpPr txBox="1">
                <a:spLocks noRot="1" noChangeAspect="1" noMove="1" noResize="1" noEditPoints="1" noAdjustHandles="1" noChangeArrowheads="1" noChangeShapeType="1" noTextEdit="1"/>
              </p:cNvSpPr>
              <p:nvPr/>
            </p:nvSpPr>
            <p:spPr>
              <a:xfrm>
                <a:off x="2812026" y="4905677"/>
                <a:ext cx="7649497" cy="923330"/>
              </a:xfrm>
              <a:prstGeom prst="rect">
                <a:avLst/>
              </a:prstGeom>
              <a:blipFill>
                <a:blip r:embed="rId3"/>
                <a:stretch>
                  <a:fillRect l="-637" t="-3974" r="-717" b="-9934"/>
                </a:stretch>
              </a:blipFill>
            </p:spPr>
            <p:txBody>
              <a:bodyPr/>
              <a:lstStyle/>
              <a:p>
                <a:r>
                  <a:rPr lang="es-ES">
                    <a:noFill/>
                  </a:rPr>
                  <a:t> </a:t>
                </a:r>
              </a:p>
            </p:txBody>
          </p:sp>
        </mc:Fallback>
      </mc:AlternateContent>
    </p:spTree>
    <p:extLst>
      <p:ext uri="{BB962C8B-B14F-4D97-AF65-F5344CB8AC3E}">
        <p14:creationId xmlns:p14="http://schemas.microsoft.com/office/powerpoint/2010/main" val="36151797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4C538-1DAC-11D0-FC3C-D82FC01FBF8B}"/>
            </a:ext>
          </a:extLst>
        </p:cNvPr>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719A3E21-F803-E47E-3249-BBDA1CA57BF7}"/>
              </a:ext>
            </a:extLst>
          </p:cNvPr>
          <p:cNvSpPr>
            <a:spLocks noGrp="1"/>
          </p:cNvSpPr>
          <p:nvPr>
            <p:ph type="sldNum" sz="quarter" idx="7"/>
          </p:nvPr>
        </p:nvSpPr>
        <p:spPr/>
        <p:txBody>
          <a:bodyPr/>
          <a:lstStyle/>
          <a:p>
            <a:fld id="{B6F15528-21DE-4FAA-801E-634DDDAF4B2B}" type="slidenum">
              <a:rPr lang="es-ES" smtClean="0"/>
              <a:t>26</a:t>
            </a:fld>
            <a:endParaRPr lang="es-ES"/>
          </a:p>
        </p:txBody>
      </p:sp>
      <p:sp>
        <p:nvSpPr>
          <p:cNvPr id="3" name="CuadroTexto 2">
            <a:extLst>
              <a:ext uri="{FF2B5EF4-FFF2-40B4-BE49-F238E27FC236}">
                <a16:creationId xmlns:a16="http://schemas.microsoft.com/office/drawing/2014/main" id="{02CB0123-EB57-7FD7-2CA8-F6FD615EF909}"/>
              </a:ext>
            </a:extLst>
          </p:cNvPr>
          <p:cNvSpPr txBox="1"/>
          <p:nvPr/>
        </p:nvSpPr>
        <p:spPr>
          <a:xfrm>
            <a:off x="1341601" y="925084"/>
            <a:ext cx="914400" cy="369332"/>
          </a:xfrm>
          <a:prstGeom prst="rect">
            <a:avLst/>
          </a:prstGeom>
          <a:noFill/>
        </p:spPr>
        <p:txBody>
          <a:bodyPr wrap="square" rtlCol="0">
            <a:spAutoFit/>
          </a:bodyPr>
          <a:lstStyle/>
          <a:p>
            <a:r>
              <a:rPr lang="es-ES" b="1"/>
              <a:t>Extra 2</a:t>
            </a:r>
          </a:p>
        </p:txBody>
      </p:sp>
      <p:pic>
        <p:nvPicPr>
          <p:cNvPr id="7" name="Imagen 6" descr="Gráfico, Gráfico de líneas&#10;&#10;El contenido generado por IA puede ser incorrecto.">
            <a:extLst>
              <a:ext uri="{FF2B5EF4-FFF2-40B4-BE49-F238E27FC236}">
                <a16:creationId xmlns:a16="http://schemas.microsoft.com/office/drawing/2014/main" id="{A54817AA-B46E-1FB5-D1C8-A5F443E11F5E}"/>
              </a:ext>
            </a:extLst>
          </p:cNvPr>
          <p:cNvPicPr>
            <a:picLocks noChangeAspect="1"/>
          </p:cNvPicPr>
          <p:nvPr/>
        </p:nvPicPr>
        <p:blipFill>
          <a:blip r:embed="rId2"/>
          <a:stretch>
            <a:fillRect/>
          </a:stretch>
        </p:blipFill>
        <p:spPr>
          <a:xfrm>
            <a:off x="3749265" y="647303"/>
            <a:ext cx="6252087" cy="3639608"/>
          </a:xfrm>
          <a:prstGeom prst="rect">
            <a:avLst/>
          </a:prstGeom>
        </p:spPr>
      </p:pic>
      <p:sp>
        <p:nvSpPr>
          <p:cNvPr id="4" name="CuadroTexto 3">
            <a:extLst>
              <a:ext uri="{FF2B5EF4-FFF2-40B4-BE49-F238E27FC236}">
                <a16:creationId xmlns:a16="http://schemas.microsoft.com/office/drawing/2014/main" id="{DC538D32-BF6A-4F34-8F5B-CAEA82B205CC}"/>
              </a:ext>
            </a:extLst>
          </p:cNvPr>
          <p:cNvSpPr txBox="1"/>
          <p:nvPr/>
        </p:nvSpPr>
        <p:spPr>
          <a:xfrm>
            <a:off x="2600325" y="4286249"/>
            <a:ext cx="9277350" cy="1477328"/>
          </a:xfrm>
          <a:prstGeom prst="rect">
            <a:avLst/>
          </a:prstGeom>
          <a:noFill/>
        </p:spPr>
        <p:txBody>
          <a:bodyPr wrap="square" rtlCol="0">
            <a:spAutoFit/>
          </a:bodyPr>
          <a:lstStyle/>
          <a:p>
            <a:pPr algn="just"/>
            <a:r>
              <a:rPr lang="es-ES" dirty="0"/>
              <a:t>Al repetir el barrido de anchuras con el núcleo de Si, lo valores de </a:t>
            </a:r>
            <a:r>
              <a:rPr lang="es-ES" dirty="0" err="1"/>
              <a:t>neff</a:t>
            </a:r>
            <a:r>
              <a:rPr lang="es-ES" dirty="0"/>
              <a:t> aumentan porque el Si tiene un índice de refracción mucho mayor que el </a:t>
            </a:r>
            <a:r>
              <a:rPr lang="es-ES" dirty="0" err="1"/>
              <a:t>SiN</a:t>
            </a:r>
            <a:r>
              <a:rPr lang="es-ES" dirty="0"/>
              <a:t>, lo que incrementa el confinamiento del modo.</a:t>
            </a:r>
          </a:p>
          <a:p>
            <a:pPr algn="just"/>
            <a:r>
              <a:rPr lang="es-ES" dirty="0"/>
              <a:t>Además, al aumentar la anchura de la guía, el modo queda  más contenido dentro del núcleo y su </a:t>
            </a:r>
            <a:r>
              <a:rPr lang="es-ES" dirty="0" err="1"/>
              <a:t>neff</a:t>
            </a:r>
            <a:r>
              <a:rPr lang="es-ES" dirty="0"/>
              <a:t> también crece. Por eso las curvas suben tanto al usar Si y al ensanchar la guía.</a:t>
            </a:r>
          </a:p>
        </p:txBody>
      </p:sp>
    </p:spTree>
    <p:extLst>
      <p:ext uri="{BB962C8B-B14F-4D97-AF65-F5344CB8AC3E}">
        <p14:creationId xmlns:p14="http://schemas.microsoft.com/office/powerpoint/2010/main" val="12929914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4B68D-0A2D-894D-EFF4-E31B3436AF37}"/>
            </a:ext>
          </a:extLst>
        </p:cNvPr>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D234826F-2A3A-A497-F395-F90DD6C0BC86}"/>
              </a:ext>
            </a:extLst>
          </p:cNvPr>
          <p:cNvSpPr>
            <a:spLocks noGrp="1"/>
          </p:cNvSpPr>
          <p:nvPr>
            <p:ph type="sldNum" sz="quarter" idx="7"/>
          </p:nvPr>
        </p:nvSpPr>
        <p:spPr/>
        <p:txBody>
          <a:bodyPr/>
          <a:lstStyle/>
          <a:p>
            <a:fld id="{B6F15528-21DE-4FAA-801E-634DDDAF4B2B}" type="slidenum">
              <a:rPr lang="es-ES" smtClean="0"/>
              <a:t>27</a:t>
            </a:fld>
            <a:endParaRPr lang="es-ES"/>
          </a:p>
        </p:txBody>
      </p:sp>
      <p:sp>
        <p:nvSpPr>
          <p:cNvPr id="3" name="CuadroTexto 2">
            <a:extLst>
              <a:ext uri="{FF2B5EF4-FFF2-40B4-BE49-F238E27FC236}">
                <a16:creationId xmlns:a16="http://schemas.microsoft.com/office/drawing/2014/main" id="{806D133A-1392-2F13-6BBC-E7813D4AB5AB}"/>
              </a:ext>
            </a:extLst>
          </p:cNvPr>
          <p:cNvSpPr txBox="1"/>
          <p:nvPr/>
        </p:nvSpPr>
        <p:spPr>
          <a:xfrm>
            <a:off x="873601" y="1081084"/>
            <a:ext cx="914400" cy="369332"/>
          </a:xfrm>
          <a:prstGeom prst="rect">
            <a:avLst/>
          </a:prstGeom>
          <a:noFill/>
        </p:spPr>
        <p:txBody>
          <a:bodyPr wrap="square" rtlCol="0">
            <a:spAutoFit/>
          </a:bodyPr>
          <a:lstStyle/>
          <a:p>
            <a:r>
              <a:rPr lang="es-ES" b="1" dirty="0"/>
              <a:t>Extra 3</a:t>
            </a:r>
          </a:p>
        </p:txBody>
      </p:sp>
      <p:pic>
        <p:nvPicPr>
          <p:cNvPr id="6" name="Imagen 5">
            <a:extLst>
              <a:ext uri="{FF2B5EF4-FFF2-40B4-BE49-F238E27FC236}">
                <a16:creationId xmlns:a16="http://schemas.microsoft.com/office/drawing/2014/main" id="{3256996D-B167-B951-8EC9-EAB9C0B2ABB4}"/>
              </a:ext>
            </a:extLst>
          </p:cNvPr>
          <p:cNvPicPr>
            <a:picLocks noChangeAspect="1"/>
          </p:cNvPicPr>
          <p:nvPr/>
        </p:nvPicPr>
        <p:blipFill>
          <a:blip r:embed="rId2"/>
          <a:stretch>
            <a:fillRect/>
          </a:stretch>
        </p:blipFill>
        <p:spPr>
          <a:xfrm>
            <a:off x="2118600" y="333938"/>
            <a:ext cx="4219576" cy="3287512"/>
          </a:xfrm>
          <a:prstGeom prst="rect">
            <a:avLst/>
          </a:prstGeom>
        </p:spPr>
      </p:pic>
      <p:sp>
        <p:nvSpPr>
          <p:cNvPr id="10" name="CuadroTexto 9">
            <a:extLst>
              <a:ext uri="{FF2B5EF4-FFF2-40B4-BE49-F238E27FC236}">
                <a16:creationId xmlns:a16="http://schemas.microsoft.com/office/drawing/2014/main" id="{6BB712C7-5263-BCD5-5C2B-F61D04DECFF2}"/>
              </a:ext>
            </a:extLst>
          </p:cNvPr>
          <p:cNvSpPr txBox="1"/>
          <p:nvPr/>
        </p:nvSpPr>
        <p:spPr>
          <a:xfrm>
            <a:off x="6991350" y="757084"/>
            <a:ext cx="4914900" cy="2862322"/>
          </a:xfrm>
          <a:prstGeom prst="rect">
            <a:avLst/>
          </a:prstGeom>
          <a:noFill/>
        </p:spPr>
        <p:txBody>
          <a:bodyPr wrap="square" rtlCol="0">
            <a:spAutoFit/>
          </a:bodyPr>
          <a:lstStyle/>
          <a:p>
            <a:pPr algn="just"/>
            <a:r>
              <a:rPr lang="es-ES" dirty="0"/>
              <a:t>Al repetir el estudio de las pérdidas en función del radio de curvatura, las pérdidas de curvatura disminuyen respecto al caso del </a:t>
            </a:r>
            <a:r>
              <a:rPr lang="es-ES" dirty="0" err="1"/>
              <a:t>SiN</a:t>
            </a:r>
            <a:r>
              <a:rPr lang="es-ES" dirty="0"/>
              <a:t>. Esto se debe al mayor índice de refracción del Si, que produce un confinamiento más fuerte. Un modo más confinado se desplaza menos hacia el exterior al curvar la guía, por lo que radia menos energía al exterior. Por ello, el radio seguro se puede encontrar a solo 5um (10 veces más pequeño que en el caso anterior).</a:t>
            </a:r>
          </a:p>
        </p:txBody>
      </p:sp>
      <p:pic>
        <p:nvPicPr>
          <p:cNvPr id="11" name="Imagen 10">
            <a:extLst>
              <a:ext uri="{FF2B5EF4-FFF2-40B4-BE49-F238E27FC236}">
                <a16:creationId xmlns:a16="http://schemas.microsoft.com/office/drawing/2014/main" id="{FC78F434-739E-FB0B-0EC3-5ED880EC2AF8}"/>
              </a:ext>
            </a:extLst>
          </p:cNvPr>
          <p:cNvPicPr>
            <a:picLocks noChangeAspect="1"/>
          </p:cNvPicPr>
          <p:nvPr/>
        </p:nvPicPr>
        <p:blipFill>
          <a:blip r:embed="rId3"/>
          <a:stretch>
            <a:fillRect/>
          </a:stretch>
        </p:blipFill>
        <p:spPr>
          <a:xfrm>
            <a:off x="2367110" y="3559593"/>
            <a:ext cx="3728890" cy="2818347"/>
          </a:xfrm>
          <a:prstGeom prst="rect">
            <a:avLst/>
          </a:prstGeom>
        </p:spPr>
      </p:pic>
      <p:sp>
        <p:nvSpPr>
          <p:cNvPr id="12" name="CuadroTexto 11">
            <a:extLst>
              <a:ext uri="{FF2B5EF4-FFF2-40B4-BE49-F238E27FC236}">
                <a16:creationId xmlns:a16="http://schemas.microsoft.com/office/drawing/2014/main" id="{6B97D629-0588-83E5-DDDC-67AE53782724}"/>
              </a:ext>
            </a:extLst>
          </p:cNvPr>
          <p:cNvSpPr txBox="1"/>
          <p:nvPr/>
        </p:nvSpPr>
        <p:spPr>
          <a:xfrm>
            <a:off x="7191375" y="4124324"/>
            <a:ext cx="4714875" cy="1477328"/>
          </a:xfrm>
          <a:prstGeom prst="rect">
            <a:avLst/>
          </a:prstGeom>
          <a:noFill/>
        </p:spPr>
        <p:txBody>
          <a:bodyPr wrap="square" rtlCol="0">
            <a:spAutoFit/>
          </a:bodyPr>
          <a:lstStyle/>
          <a:p>
            <a:pPr algn="just"/>
            <a:r>
              <a:rPr lang="es-ES" dirty="0"/>
              <a:t>Por otra parte, se puede observar como </a:t>
            </a:r>
            <a:r>
              <a:rPr lang="es-ES" dirty="0" err="1"/>
              <a:t>neff</a:t>
            </a:r>
            <a:r>
              <a:rPr lang="es-ES" dirty="0"/>
              <a:t> va aumentando, esto es debido a que conforme el radio es mayor, la curvatura se asemeja cada vez más a una recta, por lo que tiende a estabilizarse.</a:t>
            </a:r>
          </a:p>
        </p:txBody>
      </p:sp>
    </p:spTree>
    <p:extLst>
      <p:ext uri="{BB962C8B-B14F-4D97-AF65-F5344CB8AC3E}">
        <p14:creationId xmlns:p14="http://schemas.microsoft.com/office/powerpoint/2010/main" val="12357646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a:solidFill>
                  <a:srgbClr val="FFFFFF"/>
                </a:solidFill>
                <a:latin typeface="Lucida Sans"/>
                <a:cs typeface="Lucida Sans"/>
              </a:rPr>
              <a:t>Thank</a:t>
            </a:r>
            <a:r>
              <a:rPr sz="3200" b="1" spc="-55">
                <a:solidFill>
                  <a:srgbClr val="FFFFFF"/>
                </a:solidFill>
                <a:latin typeface="Lucida Sans"/>
                <a:cs typeface="Lucida Sans"/>
              </a:rPr>
              <a:t> </a:t>
            </a:r>
            <a:r>
              <a:rPr sz="3200" b="1">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28</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3964CC2388606E4FAB26D10C89AC05DD" ma:contentTypeVersion="10" ma:contentTypeDescription="Crear nuevo documento." ma:contentTypeScope="" ma:versionID="fe992bf17150066e250a269209b1868f">
  <xsd:schema xmlns:xsd="http://www.w3.org/2001/XMLSchema" xmlns:xs="http://www.w3.org/2001/XMLSchema" xmlns:p="http://schemas.microsoft.com/office/2006/metadata/properties" xmlns:ns3="6f76bca3-140c-4d08-b44a-1dad11d2ba1b" targetNamespace="http://schemas.microsoft.com/office/2006/metadata/properties" ma:root="true" ma:fieldsID="54052fe8361b13d97769f3d7dd7af1fa" ns3:_="">
    <xsd:import namespace="6f76bca3-140c-4d08-b44a-1dad11d2ba1b"/>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_activity" minOccurs="0"/>
                <xsd:element ref="ns3:MediaServiceGenerationTime" minOccurs="0"/>
                <xsd:element ref="ns3:MediaServiceEventHashCode" minOccurs="0"/>
                <xsd:element ref="ns3:MediaServiceSystemTag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76bca3-140c-4d08-b44a-1dad11d2ba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SystemTags" ma:index="16" nillable="true" ma:displayName="MediaServiceSystemTags" ma:hidden="true" ma:internalName="MediaServiceSystemTags" ma:readOnly="true">
      <xsd:simpleType>
        <xsd:restriction base="dms:Note"/>
      </xsd:simpleType>
    </xsd:element>
    <xsd:element name="MediaServiceOCR" ma:index="17"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6f76bca3-140c-4d08-b44a-1dad11d2ba1b" xsi:nil="true"/>
  </documentManagement>
</p:properties>
</file>

<file path=customXml/itemProps1.xml><?xml version="1.0" encoding="utf-8"?>
<ds:datastoreItem xmlns:ds="http://schemas.openxmlformats.org/officeDocument/2006/customXml" ds:itemID="{625808EC-6B67-4E68-B04B-CCA45A98AA6F}">
  <ds:schemaRefs>
    <ds:schemaRef ds:uri="http://schemas.microsoft.com/sharepoint/v3/contenttype/forms"/>
  </ds:schemaRefs>
</ds:datastoreItem>
</file>

<file path=customXml/itemProps2.xml><?xml version="1.0" encoding="utf-8"?>
<ds:datastoreItem xmlns:ds="http://schemas.openxmlformats.org/officeDocument/2006/customXml" ds:itemID="{1AA559D8-B2EE-4C83-8355-DD2E9D4C674A}">
  <ds:schemaRefs>
    <ds:schemaRef ds:uri="6f76bca3-140c-4d08-b44a-1dad11d2ba1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927C450-4143-44FC-80A0-104313F241EE}">
  <ds:schemaRefs>
    <ds:schemaRef ds:uri="http://schemas.microsoft.com/office/2006/documentManagement/types"/>
    <ds:schemaRef ds:uri="6f76bca3-140c-4d08-b44a-1dad11d2ba1b"/>
    <ds:schemaRef ds:uri="http://purl.org/dc/dcmitype/"/>
    <ds:schemaRef ds:uri="http://schemas.microsoft.com/office/infopath/2007/PartnerControls"/>
    <ds:schemaRef ds:uri="http://schemas.openxmlformats.org/package/2006/metadata/core-properties"/>
    <ds:schemaRef ds:uri="http://schemas.microsoft.com/office/2006/metadata/properties"/>
    <ds:schemaRef ds:uri="http://purl.org/dc/elements/1.1/"/>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36</TotalTime>
  <Words>2272</Words>
  <Application>Microsoft Office PowerPoint</Application>
  <PresentationFormat>Panorámica</PresentationFormat>
  <Paragraphs>214</Paragraphs>
  <Slides>28</Slides>
  <Notes>5</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28</vt:i4>
      </vt:variant>
    </vt:vector>
  </HeadingPairs>
  <TitlesOfParts>
    <vt:vector size="36"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Learning outcome #1 – Effective index of a waveguide </vt:lpstr>
      <vt:lpstr>Learning outcome #1 – Effective index of a waveguide </vt:lpstr>
      <vt:lpstr>Learning outcome #1 – Effective index of a waveguide </vt:lpstr>
      <vt:lpstr>Learning outcome #1 – Effective index of a waveguide </vt:lpstr>
      <vt:lpstr>Learning outcome #1 – Effective index of a waveguide </vt:lpstr>
      <vt:lpstr>Learning outcome #1 – Effective index of a waveguide </vt:lpstr>
      <vt:lpstr>Learning outcome #1 – Effective index of a waveguide </vt:lpstr>
      <vt:lpstr>Learning outcome #1 – Effective index of a waveguide </vt:lpstr>
      <vt:lpstr>Learning outcome #1 – Effective index of a waveguide </vt:lpstr>
      <vt:lpstr>Learning outcome #1 – Effective index of a waveguide </vt:lpstr>
      <vt:lpstr>Learning outcome #1 – Effective index of a waveguide </vt:lpstr>
      <vt:lpstr>Learning outcome #1 – Effective index of a waveguide </vt:lpstr>
      <vt:lpstr>Learning outcome #1 – Effective index of a waveguide </vt:lpstr>
      <vt:lpstr>Learning outcome #2 – Wavelength behavior Wavelength 1.5-1.6 µm (step 0.01 µm) – width 1.2 µm</vt:lpstr>
      <vt:lpstr>Learning outcome #3 – Width dependence Width 0.6 - 1.6 µm (step 0.1 µm) – Wavelength 1.55 µm </vt:lpstr>
      <vt:lpstr>Learning outcome #4 – Waveguide compact model - Find the compact models of the following waveguides:  Deep waveguide, h=300nm, w=1.2um   - Shallow waveguide, core h=300nm, slab h=150 nm, w = 1.2um  </vt:lpstr>
      <vt:lpstr>Presentación de PowerPoint</vt:lpstr>
      <vt:lpstr>Learning outcome #5 – Bend waveguide radius vs. loss – deep Find  neff_TE0 for wvl 1.55 µm, width 1.2 µm for R=25,50,75,100, 125,150 µm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Adrian Navarrete Marti</cp:lastModifiedBy>
  <cp:revision>2</cp:revision>
  <dcterms:created xsi:type="dcterms:W3CDTF">2025-01-27T02:46:57Z</dcterms:created>
  <dcterms:modified xsi:type="dcterms:W3CDTF">2026-03-13T16:54:28Z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y fmtid="{D5CDD505-2E9C-101B-9397-08002B2CF9AE}" pid="5" name="ContentTypeId">
    <vt:lpwstr>0x0101003964CC2388606E4FAB26D10C89AC05DD</vt:lpwstr>
  </property>
</Properties>
</file>